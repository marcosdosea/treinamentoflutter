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68" r:id="rId7"/>
    <p:sldId id="270" r:id="rId8"/>
    <p:sldId id="271" r:id="rId9"/>
    <p:sldId id="272" r:id="rId10"/>
    <p:sldId id="273" r:id="rId11"/>
    <p:sldId id="274" r:id="rId12"/>
    <p:sldId id="275" r:id="rId13"/>
    <p:sldId id="264" r:id="rId14"/>
  </p:sldIdLst>
  <p:sldSz cx="18288000" cy="10287000"/>
  <p:notesSz cx="6858000" cy="9144000"/>
  <p:embeddedFontLst>
    <p:embeddedFont>
      <p:font typeface="Lato" panose="020F0502020204030203" pitchFamily="34" charset="0"/>
      <p:regular r:id="rId15"/>
      <p:bold r:id="rId16"/>
    </p:embeddedFont>
    <p:embeddedFont>
      <p:font typeface="Lato Bold" panose="020F0502020204030203" charset="0"/>
      <p:regular r:id="rId17"/>
    </p:embeddedFont>
    <p:embeddedFont>
      <p:font typeface="Poppins Bold" panose="020B0604020202020204" charset="0"/>
      <p:regular r:id="rId18"/>
    </p:embeddedFont>
    <p:embeddedFont>
      <p:font typeface="Poppins Ultra-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ura.com.br/artigos/como-criar-um-projeto-com-flutter-hello-world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jetbrains.com/idea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alura.com.br/artigos/como-criar-um-projeto-com-flutter-hello-worl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ura.com.br/artigos/como-criar-um-projeto-com-flutter-hello-world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ura.com.br/artigos/como-criar-um-projeto-com-flutter-hello-world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ura.com.br/artigos/como-criar-um-projeto-com-flutter-hello-world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ura.com.br/artigos/como-criar-um-projeto-com-flutter-hello-world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ura.com.br/artigos/como-criar-um-projeto-com-flutter-hello-world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ura.com.br/artigos/como-criar-um-projeto-com-flutter-hello-world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ura.com.br/artigos/como-criar-um-projeto-com-flutter-hello-world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ura.com.br/artigos/como-criar-um-projeto-com-flutter-hello-world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flutlab.io/" TargetMode="Externa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catskillet/como-estruturar-os-seus-projetos-flutter-%EF%B8%8F-685566c49337" TargetMode="External"/><Relationship Id="rId2" Type="http://schemas.openxmlformats.org/officeDocument/2006/relationships/hyperlink" Target="https://www.alura.com.br/artigos/como-criar-um-projeto-com-flutter-hello-world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1951024" y="8497790"/>
            <a:ext cx="5218171" cy="6164339"/>
            <a:chOff x="0" y="0"/>
            <a:chExt cx="1620126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0126" cy="1913890"/>
            </a:xfrm>
            <a:custGeom>
              <a:avLst/>
              <a:gdLst/>
              <a:ahLst/>
              <a:cxnLst/>
              <a:rect l="l" t="t" r="r" b="b"/>
              <a:pathLst>
                <a:path w="1620126" h="1913890">
                  <a:moveTo>
                    <a:pt x="0" y="0"/>
                  </a:moveTo>
                  <a:lnTo>
                    <a:pt x="0" y="1913890"/>
                  </a:lnTo>
                  <a:lnTo>
                    <a:pt x="1620126" y="1913890"/>
                  </a:lnTo>
                  <a:lnTo>
                    <a:pt x="1620126" y="0"/>
                  </a:lnTo>
                  <a:lnTo>
                    <a:pt x="0" y="0"/>
                  </a:lnTo>
                  <a:close/>
                  <a:moveTo>
                    <a:pt x="1559166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559166" y="59690"/>
                  </a:lnTo>
                  <a:lnTo>
                    <a:pt x="1559166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14373" y="3460488"/>
            <a:ext cx="13335015" cy="3043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0"/>
              </a:lnSpc>
            </a:pPr>
            <a:r>
              <a:rPr lang="pt-BR" sz="6000" spc="600" dirty="0">
                <a:solidFill>
                  <a:srgbClr val="2B4A9D"/>
                </a:solidFill>
                <a:latin typeface="Poppins Bold"/>
              </a:rPr>
              <a:t>Arquitetura de um Projeto </a:t>
            </a:r>
            <a:r>
              <a:rPr lang="pt-BR" sz="6000" spc="600" dirty="0" err="1">
                <a:solidFill>
                  <a:srgbClr val="2B4A9D"/>
                </a:solidFill>
                <a:latin typeface="Poppins Bold"/>
              </a:rPr>
              <a:t>Flutter</a:t>
            </a:r>
            <a:endParaRPr lang="en-US" sz="6000" spc="600" dirty="0">
              <a:solidFill>
                <a:srgbClr val="2B4A9D"/>
              </a:solidFill>
              <a:latin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14372" y="7555634"/>
            <a:ext cx="11682427" cy="3080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Apresentado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por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:</a:t>
            </a:r>
          </a:p>
          <a:p>
            <a:pPr>
              <a:lnSpc>
                <a:spcPts val="4900"/>
              </a:lnSpc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Paulo Vitor</a:t>
            </a:r>
            <a:endParaRPr lang="en-US" sz="3500" spc="350" dirty="0">
              <a:solidFill>
                <a:srgbClr val="000000"/>
              </a:solidFill>
              <a:latin typeface="Lato"/>
            </a:endParaRPr>
          </a:p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Talysson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Vasconcelos</a:t>
            </a:r>
          </a:p>
          <a:p>
            <a:pPr>
              <a:lnSpc>
                <a:spcPts val="4900"/>
              </a:lnSpc>
            </a:pPr>
            <a:r>
              <a:rPr lang="en-US" sz="3500" spc="350" dirty="0">
                <a:solidFill>
                  <a:srgbClr val="000000"/>
                </a:solidFill>
                <a:latin typeface="Lato"/>
              </a:rPr>
              <a:t>João Hungria</a:t>
            </a:r>
          </a:p>
          <a:p>
            <a:pPr>
              <a:lnSpc>
                <a:spcPts val="4900"/>
              </a:lnSpc>
            </a:pPr>
            <a:endParaRPr lang="en-US" sz="3500" spc="350" dirty="0">
              <a:solidFill>
                <a:srgbClr val="000000"/>
              </a:solidFill>
              <a:latin typeface="Lato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-4134433" y="1004889"/>
            <a:ext cx="12993464" cy="2102579"/>
          </a:xfrm>
          <a:custGeom>
            <a:avLst/>
            <a:gdLst/>
            <a:ahLst/>
            <a:cxnLst/>
            <a:rect l="l" t="t" r="r" b="b"/>
            <a:pathLst>
              <a:path w="12993464" h="2102579">
                <a:moveTo>
                  <a:pt x="0" y="0"/>
                </a:moveTo>
                <a:lnTo>
                  <a:pt x="12993465" y="0"/>
                </a:lnTo>
                <a:lnTo>
                  <a:pt x="12993465" y="2102578"/>
                </a:lnTo>
                <a:lnTo>
                  <a:pt x="0" y="2102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1" name="Group 11"/>
          <p:cNvGrpSpPr/>
          <p:nvPr/>
        </p:nvGrpSpPr>
        <p:grpSpPr>
          <a:xfrm>
            <a:off x="0" y="0"/>
            <a:ext cx="541602" cy="10287000"/>
            <a:chOff x="0" y="0"/>
            <a:chExt cx="157867" cy="29984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867" cy="2998468"/>
            </a:xfrm>
            <a:custGeom>
              <a:avLst/>
              <a:gdLst/>
              <a:ahLst/>
              <a:cxnLst/>
              <a:rect l="l" t="t" r="r" b="b"/>
              <a:pathLst>
                <a:path w="157867" h="2998468">
                  <a:moveTo>
                    <a:pt x="0" y="0"/>
                  </a:moveTo>
                  <a:lnTo>
                    <a:pt x="157867" y="0"/>
                  </a:lnTo>
                  <a:lnTo>
                    <a:pt x="157867" y="2998468"/>
                  </a:lnTo>
                  <a:lnTo>
                    <a:pt x="0" y="2998468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6816" y="0"/>
            <a:ext cx="452408" cy="10287000"/>
            <a:chOff x="0" y="0"/>
            <a:chExt cx="165040" cy="3752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40" cy="3752726"/>
            </a:xfrm>
            <a:custGeom>
              <a:avLst/>
              <a:gdLst/>
              <a:ahLst/>
              <a:cxnLst/>
              <a:rect l="l" t="t" r="r" b="b"/>
              <a:pathLst>
                <a:path w="165040" h="3752726">
                  <a:moveTo>
                    <a:pt x="0" y="0"/>
                  </a:moveTo>
                  <a:lnTo>
                    <a:pt x="165040" y="0"/>
                  </a:lnTo>
                  <a:lnTo>
                    <a:pt x="165040" y="3752726"/>
                  </a:lnTo>
                  <a:lnTo>
                    <a:pt x="0" y="3752726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2700000">
            <a:off x="12190278" y="55428"/>
            <a:ext cx="10176144" cy="10176144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2628620" y="445887"/>
            <a:ext cx="9395227" cy="9395227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11524419" y="8043030"/>
            <a:ext cx="6164339" cy="6164339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1524419" y="-3920369"/>
            <a:ext cx="6164339" cy="6164339"/>
            <a:chOff x="0" y="0"/>
            <a:chExt cx="1913890" cy="19138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4980926" y="-2587876"/>
            <a:ext cx="1629197" cy="7951652"/>
            <a:chOff x="0" y="0"/>
            <a:chExt cx="2354580" cy="114920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3310" cy="11492046"/>
            </a:xfrm>
            <a:custGeom>
              <a:avLst/>
              <a:gdLst/>
              <a:ahLst/>
              <a:cxnLst/>
              <a:rect l="l" t="t" r="r" b="b"/>
              <a:pathLst>
                <a:path w="2353310" h="11492046">
                  <a:moveTo>
                    <a:pt x="784860" y="11424736"/>
                  </a:moveTo>
                  <a:cubicBezTo>
                    <a:pt x="905510" y="11465376"/>
                    <a:pt x="1042670" y="11492046"/>
                    <a:pt x="1177290" y="11492046"/>
                  </a:cubicBezTo>
                  <a:cubicBezTo>
                    <a:pt x="1311910" y="11492046"/>
                    <a:pt x="1441450" y="11469186"/>
                    <a:pt x="1560830" y="11428546"/>
                  </a:cubicBezTo>
                  <a:cubicBezTo>
                    <a:pt x="1563370" y="11427276"/>
                    <a:pt x="1565910" y="11427276"/>
                    <a:pt x="1568450" y="11426006"/>
                  </a:cubicBezTo>
                  <a:cubicBezTo>
                    <a:pt x="2016760" y="11263446"/>
                    <a:pt x="2346960" y="10834186"/>
                    <a:pt x="2353310" y="1030600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10298100"/>
                  </a:lnTo>
                  <a:cubicBezTo>
                    <a:pt x="6350" y="10836726"/>
                    <a:pt x="331470" y="11265986"/>
                    <a:pt x="784860" y="11424736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23218" y="878380"/>
            <a:ext cx="7020782" cy="895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FFFFFF"/>
                </a:solidFill>
                <a:latin typeface="Poppins Ultra-Bold"/>
              </a:rPr>
              <a:t>AGENDA</a:t>
            </a:r>
          </a:p>
        </p:txBody>
      </p:sp>
      <p:grpSp>
        <p:nvGrpSpPr>
          <p:cNvPr id="15" name="Group 15"/>
          <p:cNvGrpSpPr/>
          <p:nvPr/>
        </p:nvGrpSpPr>
        <p:grpSpPr>
          <a:xfrm rot="-5400000">
            <a:off x="568482" y="2554884"/>
            <a:ext cx="829509" cy="1966473"/>
            <a:chOff x="0" y="0"/>
            <a:chExt cx="2354580" cy="55818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123856" y="2909967"/>
            <a:ext cx="7343333" cy="125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A </a:t>
            </a: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estrutura</a:t>
            </a: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 de pastas de um </a:t>
            </a: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projeto</a:t>
            </a: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 Flutter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1000992" y="817982"/>
            <a:ext cx="8115300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Estrutura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de Pastas</a:t>
            </a: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00992" y="2428561"/>
            <a:ext cx="8087591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spc="339" dirty="0">
                <a:solidFill>
                  <a:srgbClr val="000000"/>
                </a:solidFill>
                <a:latin typeface="Lato"/>
              </a:rPr>
              <a:t>Um </a:t>
            </a:r>
            <a:r>
              <a:rPr lang="en-US" sz="3399" spc="339" dirty="0" err="1">
                <a:solidFill>
                  <a:srgbClr val="000000"/>
                </a:solidFill>
                <a:latin typeface="Lato"/>
              </a:rPr>
              <a:t>projeto</a:t>
            </a:r>
            <a:r>
              <a:rPr lang="en-US" sz="3399" spc="339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/>
              </a:rPr>
              <a:t>em</a:t>
            </a:r>
            <a:r>
              <a:rPr lang="en-US" sz="3399" spc="339" dirty="0">
                <a:solidFill>
                  <a:srgbClr val="000000"/>
                </a:solidFill>
                <a:latin typeface="Lato"/>
              </a:rPr>
              <a:t> Flutter é </a:t>
            </a:r>
            <a:r>
              <a:rPr lang="en-US" sz="3399" spc="339" dirty="0" err="1">
                <a:solidFill>
                  <a:srgbClr val="000000"/>
                </a:solidFill>
                <a:latin typeface="Lato"/>
              </a:rPr>
              <a:t>dividido</a:t>
            </a:r>
            <a:r>
              <a:rPr lang="en-US" sz="3399" spc="339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/>
              </a:rPr>
              <a:t>pela</a:t>
            </a:r>
            <a:r>
              <a:rPr lang="en-US" sz="3399" spc="339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/>
              </a:rPr>
              <a:t>seguinte</a:t>
            </a:r>
            <a:r>
              <a:rPr lang="en-US" sz="3399" spc="339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/>
              </a:rPr>
              <a:t>estrutura</a:t>
            </a:r>
            <a:r>
              <a:rPr lang="en-US" sz="3399" spc="339" dirty="0">
                <a:solidFill>
                  <a:srgbClr val="000000"/>
                </a:solidFill>
                <a:latin typeface="Lato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/>
              </a:rPr>
              <a:t>conforme</a:t>
            </a:r>
            <a:r>
              <a:rPr lang="en-US" sz="3399" spc="339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/>
              </a:rPr>
              <a:t>apresentado</a:t>
            </a:r>
            <a:r>
              <a:rPr lang="en-US" sz="3399" spc="339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/>
              </a:rPr>
              <a:t>na</a:t>
            </a:r>
            <a:r>
              <a:rPr lang="en-US" sz="3399" spc="339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/>
              </a:rPr>
              <a:t>imagem</a:t>
            </a:r>
            <a:r>
              <a:rPr lang="en-US" sz="3399" spc="339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/>
              </a:rPr>
              <a:t>ao</a:t>
            </a:r>
            <a:r>
              <a:rPr lang="en-US" sz="3399" spc="339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/>
              </a:rPr>
              <a:t>lado</a:t>
            </a:r>
            <a:r>
              <a:rPr lang="en-US" sz="3399" spc="339" dirty="0">
                <a:solidFill>
                  <a:srgbClr val="000000"/>
                </a:solidFill>
                <a:latin typeface="Lato"/>
              </a:rPr>
              <a:t>.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1028700"/>
            <a:ext cx="7919844" cy="7772400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10325100" y="8953500"/>
            <a:ext cx="67768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01 – Estrutura de Pastas</a:t>
            </a:r>
          </a:p>
          <a:p>
            <a:pPr algn="ctr"/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Fonte: </a:t>
            </a:r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  <a:hlinkClick r:id="rId3"/>
              </a:rPr>
              <a:t>https://www.alura.com.br/artigos/como-criar-um-projeto-com-flutter-hello-world</a:t>
            </a:r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90600" y="3529905"/>
            <a:ext cx="8087591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36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  <a:r>
              <a:rPr lang="pt-BR" sz="36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idea</a:t>
            </a:r>
            <a:r>
              <a:rPr lang="pt-BR" sz="36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/: 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É uma pasta criada pelas </a:t>
            </a:r>
            <a:r>
              <a:rPr lang="pt-BR" sz="36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IDEs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da </a:t>
            </a:r>
            <a:r>
              <a:rPr lang="pt-BR" sz="36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JetBrain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(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  <a:hlinkClick r:id="rId2"/>
              </a:rPr>
              <a:t>http://www.jetbrains.com/idea/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) para facilitar algumas funcionalidades nas ferramentas.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1028700"/>
            <a:ext cx="7919844" cy="7772400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10325100" y="8953500"/>
            <a:ext cx="67768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02 – Estrutura de Pastas</a:t>
            </a:r>
          </a:p>
          <a:p>
            <a:pPr algn="ctr"/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Fonte: </a:t>
            </a:r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  <a:hlinkClick r:id="rId4"/>
              </a:rPr>
              <a:t>https://www.alura.com.br/artigos/como-criar-um-projeto-com-flutter-hello-world</a:t>
            </a:r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sp>
        <p:nvSpPr>
          <p:cNvPr id="2" name="Retângulo 1"/>
          <p:cNvSpPr/>
          <p:nvPr/>
        </p:nvSpPr>
        <p:spPr>
          <a:xfrm>
            <a:off x="10134600" y="1168373"/>
            <a:ext cx="1600200" cy="6072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5890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19200" y="1313914"/>
            <a:ext cx="8087591" cy="720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36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android</a:t>
            </a:r>
            <a:r>
              <a:rPr lang="pt-BR" sz="36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/ e </a:t>
            </a:r>
            <a:r>
              <a:rPr lang="pt-BR" sz="36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ios</a:t>
            </a:r>
            <a:r>
              <a:rPr lang="pt-BR" sz="36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/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: São as pastas que possuem um código específico de plataforma para gerar o APK/IPA (os arquivos de distribuição do </a:t>
            </a:r>
            <a:r>
              <a:rPr lang="pt-BR" sz="36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Android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 </a:t>
            </a:r>
            <a:r>
              <a:rPr lang="pt-BR" sz="36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iOS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respectivamente) dos aplicativos, para que os mesmos sejam publicados nas lojas. Também permite que seja possível acessar comportamentos específicos das plataformas por meio dos Platform </a:t>
            </a:r>
            <a:r>
              <a:rPr lang="pt-BR" sz="36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Channels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o que facilita a integração de funcionalidades nativas com a interface do usuário do aplicativo.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1028700"/>
            <a:ext cx="7919844" cy="7772400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10325100" y="8953500"/>
            <a:ext cx="67768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03 – Estrutura de Pastas</a:t>
            </a:r>
          </a:p>
          <a:p>
            <a:pPr algn="ctr"/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Fonte: </a:t>
            </a:r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  <a:hlinkClick r:id="rId3"/>
              </a:rPr>
              <a:t>https://www.alura.com.br/artigos/como-criar-um-projeto-com-flutter-hello-world</a:t>
            </a:r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sp>
        <p:nvSpPr>
          <p:cNvPr id="2" name="Retângulo 1"/>
          <p:cNvSpPr/>
          <p:nvPr/>
        </p:nvSpPr>
        <p:spPr>
          <a:xfrm>
            <a:off x="10210800" y="1648664"/>
            <a:ext cx="1790700" cy="6072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10180320" y="2783636"/>
            <a:ext cx="1295400" cy="6072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0361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43000" y="2975907"/>
            <a:ext cx="8087591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36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build/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: É onde fica o build do projeto em </a:t>
            </a:r>
            <a:r>
              <a:rPr lang="pt-BR" sz="36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Dart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a qual é a linguagem utilizada em um projeto </a:t>
            </a:r>
            <a:r>
              <a:rPr lang="pt-BR" sz="36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Flutter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 Ela é gerada sempre que rodamos o comando “</a:t>
            </a:r>
            <a:r>
              <a:rPr lang="pt-BR" sz="36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flutter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pt-BR" sz="36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run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”.</a:t>
            </a:r>
          </a:p>
          <a:p>
            <a:pPr algn="just"/>
            <a:endParaRPr lang="pt-BR" sz="36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algn="just"/>
            <a:r>
              <a:rPr lang="pt-BR" sz="36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test</a:t>
            </a:r>
            <a:r>
              <a:rPr lang="pt-BR" sz="36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/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: É a pasta onde podemos escrever testes para nossas aplicações.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1028700"/>
            <a:ext cx="7919844" cy="7772400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10325100" y="8953500"/>
            <a:ext cx="67768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04 – Estrutura de Pastas</a:t>
            </a:r>
          </a:p>
          <a:p>
            <a:pPr algn="ctr"/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Fonte: </a:t>
            </a:r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  <a:hlinkClick r:id="rId3"/>
              </a:rPr>
              <a:t>https://www.alura.com.br/artigos/como-criar-um-projeto-com-flutter-hello-world</a:t>
            </a:r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sp>
        <p:nvSpPr>
          <p:cNvPr id="8" name="Retângulo 7"/>
          <p:cNvSpPr/>
          <p:nvPr/>
        </p:nvSpPr>
        <p:spPr>
          <a:xfrm>
            <a:off x="10287000" y="2247900"/>
            <a:ext cx="1295400" cy="6072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10210800" y="3848100"/>
            <a:ext cx="1295400" cy="6072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2292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43000" y="2471403"/>
            <a:ext cx="8087591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36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  <a:r>
              <a:rPr lang="pt-BR" sz="36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metadata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: É um arquivo usado pelo </a:t>
            </a:r>
            <a:r>
              <a:rPr lang="pt-BR" sz="36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Flutter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gerenciar alguns recursos internos e deve ser evitado fazer alterações manualmente. Contudo, ele deve ser </a:t>
            </a:r>
            <a:r>
              <a:rPr lang="pt-BR" sz="36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versionado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junto com o projeto, com o objetivo de garantir a consistência do ambiente de desenvolvimento entre diferentes membros da equipe e ambientes de desenvolvimento.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1028700"/>
            <a:ext cx="7919844" cy="7772400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10325100" y="8953500"/>
            <a:ext cx="67768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05 – Estrutura de Pastas</a:t>
            </a:r>
          </a:p>
          <a:p>
            <a:pPr algn="ctr"/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Fonte: </a:t>
            </a:r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  <a:hlinkClick r:id="rId3"/>
              </a:rPr>
              <a:t>https://www.alura.com.br/artigos/como-criar-um-projeto-com-flutter-hello-world</a:t>
            </a:r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sp>
        <p:nvSpPr>
          <p:cNvPr id="8" name="Retângulo 7"/>
          <p:cNvSpPr/>
          <p:nvPr/>
        </p:nvSpPr>
        <p:spPr>
          <a:xfrm>
            <a:off x="10134600" y="4937760"/>
            <a:ext cx="2209800" cy="6072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3036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43000" y="4083903"/>
            <a:ext cx="8087591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36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pubspec.yaml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: É o arquivo de gerenciamento das dependências de um projeto </a:t>
            </a:r>
            <a:r>
              <a:rPr lang="pt-BR" sz="36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Dart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1028700"/>
            <a:ext cx="7919844" cy="7772400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10325100" y="8953500"/>
            <a:ext cx="67768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06 – Estrutura de Pastas</a:t>
            </a:r>
          </a:p>
          <a:p>
            <a:pPr algn="ctr"/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Fonte: </a:t>
            </a:r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  <a:hlinkClick r:id="rId3"/>
              </a:rPr>
              <a:t>https://www.alura.com.br/artigos/como-criar-um-projeto-com-flutter-hello-world</a:t>
            </a:r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sp>
        <p:nvSpPr>
          <p:cNvPr id="8" name="Retângulo 7"/>
          <p:cNvSpPr/>
          <p:nvPr/>
        </p:nvSpPr>
        <p:spPr>
          <a:xfrm>
            <a:off x="10287000" y="7200900"/>
            <a:ext cx="2628900" cy="6072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4871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19200" y="2975907"/>
            <a:ext cx="8087591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36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  <a:r>
              <a:rPr lang="pt-BR" sz="36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packages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: Este arquivo é gerado automaticamente sempre que uma nova biblioteca é instalada, permitindo que o sistema de gerenciamento de pacotes do </a:t>
            </a:r>
            <a:r>
              <a:rPr lang="pt-BR" sz="36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Flutter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saiba encontrar as dependências necessárias para o projeto.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1028700"/>
            <a:ext cx="7919844" cy="7772400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10325100" y="8953500"/>
            <a:ext cx="67768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07 – Estrutura de Pastas</a:t>
            </a:r>
          </a:p>
          <a:p>
            <a:pPr algn="ctr"/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Fonte: </a:t>
            </a:r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  <a:hlinkClick r:id="rId3"/>
              </a:rPr>
              <a:t>https://www.alura.com.br/artigos/como-criar-um-projeto-com-flutter-hello-world</a:t>
            </a:r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sp>
        <p:nvSpPr>
          <p:cNvPr id="8" name="Retângulo 7"/>
          <p:cNvSpPr/>
          <p:nvPr/>
        </p:nvSpPr>
        <p:spPr>
          <a:xfrm>
            <a:off x="10134600" y="5524500"/>
            <a:ext cx="2628900" cy="6072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5096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80860" y="4083903"/>
            <a:ext cx="8087591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36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pubspeck.lock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: É um arquivo usado para gerenciar as versões das bibliotecas que o projeto está utilizando. 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1028700"/>
            <a:ext cx="7919844" cy="7772400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10325100" y="8953500"/>
            <a:ext cx="67768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08 – Estrutura de Pastas</a:t>
            </a:r>
          </a:p>
          <a:p>
            <a:pPr algn="ctr"/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Fonte: </a:t>
            </a:r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  <a:hlinkClick r:id="rId3"/>
              </a:rPr>
              <a:t>https://www.alura.com.br/artigos/como-criar-um-projeto-com-flutter-hello-world</a:t>
            </a:r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sp>
        <p:nvSpPr>
          <p:cNvPr id="8" name="Retângulo 7"/>
          <p:cNvSpPr/>
          <p:nvPr/>
        </p:nvSpPr>
        <p:spPr>
          <a:xfrm>
            <a:off x="10210800" y="6591300"/>
            <a:ext cx="2628900" cy="6072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305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43000" y="3806904"/>
            <a:ext cx="8087591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36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README.md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: contém informações sobre o projeto que está sendo </a:t>
            </a:r>
            <a:r>
              <a:rPr lang="pt-BR" sz="36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desenvolvido,com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 descrição e o manual de uso.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1028700"/>
            <a:ext cx="7919844" cy="7772400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10325100" y="8953500"/>
            <a:ext cx="67768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09 – Estrutura de Pastas</a:t>
            </a:r>
          </a:p>
          <a:p>
            <a:pPr algn="ctr"/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Fonte: </a:t>
            </a:r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  <a:hlinkClick r:id="rId3"/>
              </a:rPr>
              <a:t>https://www.alura.com.br/artigos/como-criar-um-projeto-com-flutter-hello-world</a:t>
            </a:r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sp>
        <p:nvSpPr>
          <p:cNvPr id="8" name="Retângulo 7"/>
          <p:cNvSpPr/>
          <p:nvPr/>
        </p:nvSpPr>
        <p:spPr>
          <a:xfrm>
            <a:off x="10134600" y="7810500"/>
            <a:ext cx="2628900" cy="6072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93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43000" y="3270143"/>
            <a:ext cx="8087591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36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lib</a:t>
            </a:r>
            <a:r>
              <a:rPr lang="pt-BR" sz="36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: 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é o diretório principal de um projeto </a:t>
            </a:r>
            <a:r>
              <a:rPr lang="pt-BR" sz="36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Flutter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na qual é armazenado o código-fonte da aplicação. Um dos elementos encontrado na pasta </a:t>
            </a:r>
            <a:r>
              <a:rPr lang="pt-BR" sz="36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lib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o </a:t>
            </a:r>
            <a:r>
              <a:rPr lang="pt-BR" sz="36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main.dart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1028700"/>
            <a:ext cx="7919844" cy="7772400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10325100" y="8953500"/>
            <a:ext cx="67768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10 – Estrutura de Pastas</a:t>
            </a:r>
          </a:p>
          <a:p>
            <a:pPr algn="ctr"/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Fonte: </a:t>
            </a:r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  <a:hlinkClick r:id="rId3"/>
              </a:rPr>
              <a:t>https://www.alura.com.br/artigos/como-criar-um-projeto-com-flutter-hello-world</a:t>
            </a:r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sp>
        <p:nvSpPr>
          <p:cNvPr id="8" name="Retângulo 7"/>
          <p:cNvSpPr/>
          <p:nvPr/>
        </p:nvSpPr>
        <p:spPr>
          <a:xfrm>
            <a:off x="10058400" y="3317036"/>
            <a:ext cx="1524000" cy="6072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7120314"/>
            <a:ext cx="7466570" cy="1680786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1487863" y="8953500"/>
            <a:ext cx="67768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11 – Pasta </a:t>
            </a:r>
            <a:r>
              <a:rPr lang="pt-BR" sz="20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Lib</a:t>
            </a:r>
            <a:endParaRPr lang="pt-BR" sz="20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algn="ctr"/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Fonte: </a:t>
            </a:r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  <a:hlinkClick r:id="rId5"/>
              </a:rPr>
              <a:t>http://flutlab.io/</a:t>
            </a:r>
            <a:r>
              <a:rPr lang="pt-BR" sz="20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8675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3086100"/>
            <a:ext cx="16784870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36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Flutter</a:t>
            </a:r>
            <a:r>
              <a:rPr lang="pt-BR" sz="36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 o seu primeiro </a:t>
            </a:r>
            <a:r>
              <a:rPr lang="pt-BR" sz="36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hello</a:t>
            </a:r>
            <a:r>
              <a:rPr lang="pt-BR" sz="36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world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 Disponível em: 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  <a:hlinkClick r:id="rId2"/>
              </a:rPr>
              <a:t>https://www.alura.com.br/artigos/como-criar-um-projeto-com-flutter-hello-world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 Acesso em: 2 mar. 2024.</a:t>
            </a:r>
          </a:p>
          <a:p>
            <a:pPr algn="just"/>
            <a:endParaRPr lang="pt-BR" sz="36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SILVA, R. </a:t>
            </a:r>
            <a:r>
              <a:rPr lang="pt-BR" sz="36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Como estruturar seus projetos </a:t>
            </a:r>
            <a:r>
              <a:rPr lang="pt-BR" sz="36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Flutter</a:t>
            </a:r>
            <a:r>
              <a:rPr lang="pt-BR" sz="36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- </a:t>
            </a:r>
            <a:r>
              <a:rPr lang="pt-BR" sz="36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Catskillet</a:t>
            </a:r>
            <a:r>
              <a:rPr lang="pt-BR" sz="36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- </a:t>
            </a:r>
            <a:r>
              <a:rPr lang="pt-BR" sz="36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Medium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 Disponível em: 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  <a:hlinkClick r:id="rId3"/>
              </a:rPr>
              <a:t>https://medium.com/catskillet/como-estruturar-os-seus-projetos-flutter-%EF%B8%8F-685566c49337</a:t>
            </a:r>
            <a:r>
              <a:rPr lang="pt-BR" sz="36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 Acesso em: 2 mar. 2024.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264052" y="1104900"/>
            <a:ext cx="5780765" cy="667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85775" lvl="1" algn="just">
              <a:lnSpc>
                <a:spcPts val="4725"/>
              </a:lnSpc>
            </a:pPr>
            <a:r>
              <a:rPr lang="en-US" sz="6000" spc="225" dirty="0" err="1">
                <a:solidFill>
                  <a:srgbClr val="2B4A9D"/>
                </a:solidFill>
                <a:latin typeface="Poppins Ultra-Bold"/>
              </a:rPr>
              <a:t>Referências</a:t>
            </a:r>
            <a:endParaRPr lang="en-US" sz="6000" spc="225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684</Words>
  <Application>Microsoft Office PowerPoint</Application>
  <PresentationFormat>Personalizar</PresentationFormat>
  <Paragraphs>46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Poppins Bold</vt:lpstr>
      <vt:lpstr>Lato Bold</vt:lpstr>
      <vt:lpstr>Calibri</vt:lpstr>
      <vt:lpstr>Arial</vt:lpstr>
      <vt:lpstr>Lato</vt:lpstr>
      <vt:lpstr>Poppins Ultra-Bold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de Flutter</dc:title>
  <dc:creator>natalia</dc:creator>
  <cp:lastModifiedBy>Office</cp:lastModifiedBy>
  <cp:revision>15</cp:revision>
  <dcterms:created xsi:type="dcterms:W3CDTF">2006-08-16T00:00:00Z</dcterms:created>
  <dcterms:modified xsi:type="dcterms:W3CDTF">2025-11-25T01:49:42Z</dcterms:modified>
  <dc:identifier>DAF-TiBPULQ</dc:identifier>
</cp:coreProperties>
</file>