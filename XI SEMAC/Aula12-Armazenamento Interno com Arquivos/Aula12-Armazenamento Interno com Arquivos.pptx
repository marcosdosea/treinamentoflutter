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Lato" panose="020F0502020204030203" pitchFamily="34" charset="0"/>
      <p:regular r:id="rId17"/>
    </p:embeddedFont>
    <p:embeddedFont>
      <p:font typeface="Lato Bold" panose="020F0502020204030203" charset="0"/>
      <p:regular r:id="rId18"/>
    </p:embeddedFont>
    <p:embeddedFont>
      <p:font typeface="Poppins" panose="00000500000000000000" pitchFamily="2" charset="0"/>
      <p:regular r:id="rId19"/>
      <p:bold r:id="rId20"/>
    </p:embeddedFont>
    <p:embeddedFont>
      <p:font typeface="Poppins Bold" panose="00000800000000000000" charset="0"/>
      <p:regular r:id="rId21"/>
    </p:embeddedFont>
    <p:embeddedFont>
      <p:font typeface="Poppins Ultra-Bold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9" d="100"/>
          <a:sy n="69" d="100"/>
        </p:scale>
        <p:origin x="48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2700000">
            <a:off x="15004959" y="1860459"/>
            <a:ext cx="6566081" cy="6566081"/>
            <a:chOff x="0" y="0"/>
            <a:chExt cx="1913890" cy="19138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5271FF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 rot="2700000">
            <a:off x="15361560" y="2217060"/>
            <a:ext cx="5852880" cy="5852880"/>
            <a:chOff x="0" y="0"/>
            <a:chExt cx="1913890" cy="191389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" name="Group 6"/>
          <p:cNvGrpSpPr/>
          <p:nvPr/>
        </p:nvGrpSpPr>
        <p:grpSpPr>
          <a:xfrm rot="2700000">
            <a:off x="11951024" y="8497790"/>
            <a:ext cx="5218171" cy="6164339"/>
            <a:chOff x="0" y="0"/>
            <a:chExt cx="1620126" cy="19138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20126" cy="1913890"/>
            </a:xfrm>
            <a:custGeom>
              <a:avLst/>
              <a:gdLst/>
              <a:ahLst/>
              <a:cxnLst/>
              <a:rect l="l" t="t" r="r" b="b"/>
              <a:pathLst>
                <a:path w="1620126" h="1913890">
                  <a:moveTo>
                    <a:pt x="0" y="0"/>
                  </a:moveTo>
                  <a:lnTo>
                    <a:pt x="0" y="1913890"/>
                  </a:lnTo>
                  <a:lnTo>
                    <a:pt x="1620126" y="1913890"/>
                  </a:lnTo>
                  <a:lnTo>
                    <a:pt x="1620126" y="0"/>
                  </a:lnTo>
                  <a:lnTo>
                    <a:pt x="0" y="0"/>
                  </a:lnTo>
                  <a:close/>
                  <a:moveTo>
                    <a:pt x="1559166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559166" y="59690"/>
                  </a:lnTo>
                  <a:lnTo>
                    <a:pt x="1559166" y="185293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85151" y="4571985"/>
            <a:ext cx="12859928" cy="2247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401"/>
              </a:lnSpc>
            </a:pPr>
            <a:r>
              <a:rPr lang="en-US" sz="8001" spc="400">
                <a:solidFill>
                  <a:srgbClr val="2B4A9D"/>
                </a:solidFill>
                <a:latin typeface="Poppins Bold"/>
              </a:rPr>
              <a:t>Armazenamento Interno com Arquivos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85151" y="7260387"/>
            <a:ext cx="12616379" cy="10972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480"/>
              </a:lnSpc>
            </a:pP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Apresentado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por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: João Victor, Paulo Vitor e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Talysson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Vasconcelos</a:t>
            </a:r>
          </a:p>
        </p:txBody>
      </p:sp>
      <p:sp>
        <p:nvSpPr>
          <p:cNvPr id="10" name="Freeform 10"/>
          <p:cNvSpPr/>
          <p:nvPr/>
        </p:nvSpPr>
        <p:spPr>
          <a:xfrm>
            <a:off x="-4134433" y="1004889"/>
            <a:ext cx="12993464" cy="2102579"/>
          </a:xfrm>
          <a:custGeom>
            <a:avLst/>
            <a:gdLst/>
            <a:ahLst/>
            <a:cxnLst/>
            <a:rect l="l" t="t" r="r" b="b"/>
            <a:pathLst>
              <a:path w="12993464" h="2102579">
                <a:moveTo>
                  <a:pt x="0" y="0"/>
                </a:moveTo>
                <a:lnTo>
                  <a:pt x="12993465" y="0"/>
                </a:lnTo>
                <a:lnTo>
                  <a:pt x="12993465" y="2102578"/>
                </a:lnTo>
                <a:lnTo>
                  <a:pt x="0" y="21025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11" name="Group 11"/>
          <p:cNvGrpSpPr/>
          <p:nvPr/>
        </p:nvGrpSpPr>
        <p:grpSpPr>
          <a:xfrm>
            <a:off x="0" y="0"/>
            <a:ext cx="541602" cy="10287000"/>
            <a:chOff x="0" y="0"/>
            <a:chExt cx="157867" cy="299846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7867" cy="2998468"/>
            </a:xfrm>
            <a:custGeom>
              <a:avLst/>
              <a:gdLst/>
              <a:ahLst/>
              <a:cxnLst/>
              <a:rect l="l" t="t" r="r" b="b"/>
              <a:pathLst>
                <a:path w="157867" h="2998468">
                  <a:moveTo>
                    <a:pt x="0" y="0"/>
                  </a:moveTo>
                  <a:lnTo>
                    <a:pt x="157867" y="0"/>
                  </a:lnTo>
                  <a:lnTo>
                    <a:pt x="157867" y="2998468"/>
                  </a:lnTo>
                  <a:lnTo>
                    <a:pt x="0" y="2998468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76816" y="0"/>
            <a:ext cx="452408" cy="10287000"/>
            <a:chOff x="0" y="0"/>
            <a:chExt cx="165040" cy="3752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5040" cy="3752726"/>
            </a:xfrm>
            <a:custGeom>
              <a:avLst/>
              <a:gdLst/>
              <a:ahLst/>
              <a:cxnLst/>
              <a:rect l="l" t="t" r="r" b="b"/>
              <a:pathLst>
                <a:path w="165040" h="3752726">
                  <a:moveTo>
                    <a:pt x="0" y="0"/>
                  </a:moveTo>
                  <a:lnTo>
                    <a:pt x="165040" y="0"/>
                  </a:lnTo>
                  <a:lnTo>
                    <a:pt x="165040" y="3752726"/>
                  </a:lnTo>
                  <a:lnTo>
                    <a:pt x="0" y="3752726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 rot="-2700000">
            <a:off x="12190278" y="55428"/>
            <a:ext cx="10176144" cy="10176144"/>
            <a:chOff x="0" y="0"/>
            <a:chExt cx="1913890" cy="191389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" name="Group 6"/>
          <p:cNvGrpSpPr/>
          <p:nvPr/>
        </p:nvGrpSpPr>
        <p:grpSpPr>
          <a:xfrm rot="2700000">
            <a:off x="12628620" y="445887"/>
            <a:ext cx="9395227" cy="9395227"/>
            <a:chOff x="0" y="0"/>
            <a:chExt cx="1913890" cy="19138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8" name="Group 8"/>
          <p:cNvGrpSpPr/>
          <p:nvPr/>
        </p:nvGrpSpPr>
        <p:grpSpPr>
          <a:xfrm rot="2700000">
            <a:off x="11524419" y="8043030"/>
            <a:ext cx="6164339" cy="6164339"/>
            <a:chOff x="0" y="0"/>
            <a:chExt cx="1913890" cy="191389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0" name="Group 10"/>
          <p:cNvGrpSpPr/>
          <p:nvPr/>
        </p:nvGrpSpPr>
        <p:grpSpPr>
          <a:xfrm rot="2700000">
            <a:off x="11524419" y="-3920369"/>
            <a:ext cx="6164339" cy="6164339"/>
            <a:chOff x="0" y="0"/>
            <a:chExt cx="1913890" cy="191389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2" name="Group 12"/>
          <p:cNvGrpSpPr/>
          <p:nvPr/>
        </p:nvGrpSpPr>
        <p:grpSpPr>
          <a:xfrm rot="-5400000">
            <a:off x="4980926" y="-2587876"/>
            <a:ext cx="1629197" cy="7951652"/>
            <a:chOff x="0" y="0"/>
            <a:chExt cx="2354580" cy="1149204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353310" cy="11492046"/>
            </a:xfrm>
            <a:custGeom>
              <a:avLst/>
              <a:gdLst/>
              <a:ahLst/>
              <a:cxnLst/>
              <a:rect l="l" t="t" r="r" b="b"/>
              <a:pathLst>
                <a:path w="2353310" h="11492046">
                  <a:moveTo>
                    <a:pt x="784860" y="11424736"/>
                  </a:moveTo>
                  <a:cubicBezTo>
                    <a:pt x="905510" y="11465376"/>
                    <a:pt x="1042670" y="11492046"/>
                    <a:pt x="1177290" y="11492046"/>
                  </a:cubicBezTo>
                  <a:cubicBezTo>
                    <a:pt x="1311910" y="11492046"/>
                    <a:pt x="1441450" y="11469186"/>
                    <a:pt x="1560830" y="11428546"/>
                  </a:cubicBezTo>
                  <a:cubicBezTo>
                    <a:pt x="1563370" y="11427276"/>
                    <a:pt x="1565910" y="11427276"/>
                    <a:pt x="1568450" y="11426006"/>
                  </a:cubicBezTo>
                  <a:cubicBezTo>
                    <a:pt x="2016760" y="11263446"/>
                    <a:pt x="2346960" y="10834186"/>
                    <a:pt x="2353310" y="10306003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10298100"/>
                  </a:lnTo>
                  <a:cubicBezTo>
                    <a:pt x="6350" y="10836726"/>
                    <a:pt x="331470" y="11265986"/>
                    <a:pt x="784860" y="11424736"/>
                  </a:cubicBez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123218" y="878380"/>
            <a:ext cx="7020782" cy="895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6000" spc="300">
                <a:solidFill>
                  <a:srgbClr val="FFFFFF"/>
                </a:solidFill>
                <a:latin typeface="Poppins Ultra-Bold"/>
              </a:rPr>
              <a:t>AGENDA</a:t>
            </a:r>
          </a:p>
        </p:txBody>
      </p:sp>
      <p:grpSp>
        <p:nvGrpSpPr>
          <p:cNvPr id="15" name="Group 15"/>
          <p:cNvGrpSpPr/>
          <p:nvPr/>
        </p:nvGrpSpPr>
        <p:grpSpPr>
          <a:xfrm rot="-5400000">
            <a:off x="568482" y="2158202"/>
            <a:ext cx="829509" cy="1966473"/>
            <a:chOff x="0" y="0"/>
            <a:chExt cx="2354580" cy="558188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353310" cy="5581882"/>
            </a:xfrm>
            <a:custGeom>
              <a:avLst/>
              <a:gdLst/>
              <a:ahLst/>
              <a:cxnLst/>
              <a:rect l="l" t="t" r="r" b="b"/>
              <a:pathLst>
                <a:path w="2353310" h="5581882">
                  <a:moveTo>
                    <a:pt x="784860" y="5514572"/>
                  </a:moveTo>
                  <a:cubicBezTo>
                    <a:pt x="905510" y="5555212"/>
                    <a:pt x="1042670" y="5581882"/>
                    <a:pt x="1177290" y="5581882"/>
                  </a:cubicBezTo>
                  <a:cubicBezTo>
                    <a:pt x="1311910" y="5581882"/>
                    <a:pt x="1441450" y="5559022"/>
                    <a:pt x="1560830" y="5518382"/>
                  </a:cubicBezTo>
                  <a:cubicBezTo>
                    <a:pt x="1563370" y="5517112"/>
                    <a:pt x="1565910" y="5517112"/>
                    <a:pt x="1568450" y="5515842"/>
                  </a:cubicBezTo>
                  <a:cubicBezTo>
                    <a:pt x="2016760" y="5353282"/>
                    <a:pt x="2346960" y="4924022"/>
                    <a:pt x="2353310" y="4414024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410668"/>
                  </a:lnTo>
                  <a:cubicBezTo>
                    <a:pt x="6350" y="4926562"/>
                    <a:pt x="331470" y="5355822"/>
                    <a:pt x="784860" y="5514572"/>
                  </a:cubicBez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7" name="Group 17"/>
          <p:cNvGrpSpPr/>
          <p:nvPr/>
        </p:nvGrpSpPr>
        <p:grpSpPr>
          <a:xfrm rot="-5400000">
            <a:off x="568482" y="3194238"/>
            <a:ext cx="829509" cy="1966473"/>
            <a:chOff x="0" y="0"/>
            <a:chExt cx="2354580" cy="558188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353310" cy="5581882"/>
            </a:xfrm>
            <a:custGeom>
              <a:avLst/>
              <a:gdLst/>
              <a:ahLst/>
              <a:cxnLst/>
              <a:rect l="l" t="t" r="r" b="b"/>
              <a:pathLst>
                <a:path w="2353310" h="5581882">
                  <a:moveTo>
                    <a:pt x="784860" y="5514572"/>
                  </a:moveTo>
                  <a:cubicBezTo>
                    <a:pt x="905510" y="5555212"/>
                    <a:pt x="1042670" y="5581882"/>
                    <a:pt x="1177290" y="5581882"/>
                  </a:cubicBezTo>
                  <a:cubicBezTo>
                    <a:pt x="1311910" y="5581882"/>
                    <a:pt x="1441450" y="5559022"/>
                    <a:pt x="1560830" y="5518382"/>
                  </a:cubicBezTo>
                  <a:cubicBezTo>
                    <a:pt x="1563370" y="5517112"/>
                    <a:pt x="1565910" y="5517112"/>
                    <a:pt x="1568450" y="5515842"/>
                  </a:cubicBezTo>
                  <a:cubicBezTo>
                    <a:pt x="2016760" y="5353282"/>
                    <a:pt x="2346960" y="4924022"/>
                    <a:pt x="2353310" y="4414024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410668"/>
                  </a:lnTo>
                  <a:cubicBezTo>
                    <a:pt x="6350" y="4926562"/>
                    <a:pt x="331470" y="5355822"/>
                    <a:pt x="784860" y="5514572"/>
                  </a:cubicBez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9" name="Group 19"/>
          <p:cNvGrpSpPr/>
          <p:nvPr/>
        </p:nvGrpSpPr>
        <p:grpSpPr>
          <a:xfrm rot="-5400000">
            <a:off x="568482" y="4233296"/>
            <a:ext cx="829509" cy="1966473"/>
            <a:chOff x="0" y="0"/>
            <a:chExt cx="2354580" cy="558188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353310" cy="5581882"/>
            </a:xfrm>
            <a:custGeom>
              <a:avLst/>
              <a:gdLst/>
              <a:ahLst/>
              <a:cxnLst/>
              <a:rect l="l" t="t" r="r" b="b"/>
              <a:pathLst>
                <a:path w="2353310" h="5581882">
                  <a:moveTo>
                    <a:pt x="784860" y="5514572"/>
                  </a:moveTo>
                  <a:cubicBezTo>
                    <a:pt x="905510" y="5555212"/>
                    <a:pt x="1042670" y="5581882"/>
                    <a:pt x="1177290" y="5581882"/>
                  </a:cubicBezTo>
                  <a:cubicBezTo>
                    <a:pt x="1311910" y="5581882"/>
                    <a:pt x="1441450" y="5559022"/>
                    <a:pt x="1560830" y="5518382"/>
                  </a:cubicBezTo>
                  <a:cubicBezTo>
                    <a:pt x="1563370" y="5517112"/>
                    <a:pt x="1565910" y="5517112"/>
                    <a:pt x="1568450" y="5515842"/>
                  </a:cubicBezTo>
                  <a:cubicBezTo>
                    <a:pt x="2016760" y="5353282"/>
                    <a:pt x="2346960" y="4924022"/>
                    <a:pt x="2353310" y="4414024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410668"/>
                  </a:lnTo>
                  <a:cubicBezTo>
                    <a:pt x="6350" y="4926562"/>
                    <a:pt x="331470" y="5355822"/>
                    <a:pt x="784860" y="5514572"/>
                  </a:cubicBez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2123218" y="2553429"/>
            <a:ext cx="7343333" cy="1109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480"/>
              </a:lnSpc>
            </a:pPr>
            <a:r>
              <a:rPr lang="en-US" sz="3200" spc="320">
                <a:solidFill>
                  <a:srgbClr val="2B4A9D"/>
                </a:solidFill>
                <a:latin typeface="Lato Bold"/>
              </a:rPr>
              <a:t>Como funciona o armazenamento interno com arquivos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123218" y="5960317"/>
            <a:ext cx="7343333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480"/>
              </a:lnSpc>
            </a:pPr>
            <a:r>
              <a:rPr lang="en-US" sz="3200" spc="320">
                <a:solidFill>
                  <a:srgbClr val="2B4A9D"/>
                </a:solidFill>
                <a:latin typeface="Lato Bold"/>
              </a:rPr>
              <a:t>Aplicação Lista de Tarefas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123858" y="4920424"/>
            <a:ext cx="7343333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480"/>
              </a:lnSpc>
            </a:pPr>
            <a:r>
              <a:rPr lang="en-US" sz="3200" spc="320">
                <a:solidFill>
                  <a:srgbClr val="2B4A9D"/>
                </a:solidFill>
                <a:latin typeface="Lato Bold"/>
              </a:rPr>
              <a:t>Classe File e Directory</a:t>
            </a:r>
          </a:p>
        </p:txBody>
      </p:sp>
      <p:grpSp>
        <p:nvGrpSpPr>
          <p:cNvPr id="24" name="Group 24"/>
          <p:cNvGrpSpPr/>
          <p:nvPr/>
        </p:nvGrpSpPr>
        <p:grpSpPr>
          <a:xfrm rot="-5400000">
            <a:off x="568482" y="5272355"/>
            <a:ext cx="829509" cy="1966473"/>
            <a:chOff x="0" y="0"/>
            <a:chExt cx="2354580" cy="558188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353310" cy="5581882"/>
            </a:xfrm>
            <a:custGeom>
              <a:avLst/>
              <a:gdLst/>
              <a:ahLst/>
              <a:cxnLst/>
              <a:rect l="l" t="t" r="r" b="b"/>
              <a:pathLst>
                <a:path w="2353310" h="5581882">
                  <a:moveTo>
                    <a:pt x="784860" y="5514572"/>
                  </a:moveTo>
                  <a:cubicBezTo>
                    <a:pt x="905510" y="5555212"/>
                    <a:pt x="1042670" y="5581882"/>
                    <a:pt x="1177290" y="5581882"/>
                  </a:cubicBezTo>
                  <a:cubicBezTo>
                    <a:pt x="1311910" y="5581882"/>
                    <a:pt x="1441450" y="5559022"/>
                    <a:pt x="1560830" y="5518382"/>
                  </a:cubicBezTo>
                  <a:cubicBezTo>
                    <a:pt x="1563370" y="5517112"/>
                    <a:pt x="1565910" y="5517112"/>
                    <a:pt x="1568450" y="5515842"/>
                  </a:cubicBezTo>
                  <a:cubicBezTo>
                    <a:pt x="2016760" y="5353282"/>
                    <a:pt x="2346960" y="4924022"/>
                    <a:pt x="2353310" y="4414024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410668"/>
                  </a:lnTo>
                  <a:cubicBezTo>
                    <a:pt x="6350" y="4926562"/>
                    <a:pt x="331470" y="5355822"/>
                    <a:pt x="784860" y="5514572"/>
                  </a:cubicBez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2123858" y="6998541"/>
            <a:ext cx="8123885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480"/>
              </a:lnSpc>
            </a:pPr>
            <a:r>
              <a:rPr lang="en-US" sz="3200" spc="320">
                <a:solidFill>
                  <a:srgbClr val="2B4A9D"/>
                </a:solidFill>
                <a:latin typeface="Lato Bold"/>
              </a:rPr>
              <a:t>Método _carregarTarefas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123858" y="3882200"/>
            <a:ext cx="7343333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480"/>
              </a:lnSpc>
            </a:pPr>
            <a:r>
              <a:rPr lang="en-US" sz="3200" spc="320">
                <a:solidFill>
                  <a:srgbClr val="2B4A9D"/>
                </a:solidFill>
                <a:latin typeface="Lato Bold"/>
              </a:rPr>
              <a:t>Pacote path_provider</a:t>
            </a:r>
          </a:p>
        </p:txBody>
      </p:sp>
      <p:grpSp>
        <p:nvGrpSpPr>
          <p:cNvPr id="28" name="Group 28"/>
          <p:cNvGrpSpPr/>
          <p:nvPr/>
        </p:nvGrpSpPr>
        <p:grpSpPr>
          <a:xfrm rot="-5400000">
            <a:off x="568482" y="6311413"/>
            <a:ext cx="829509" cy="1966473"/>
            <a:chOff x="0" y="0"/>
            <a:chExt cx="2354580" cy="558188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353310" cy="5581882"/>
            </a:xfrm>
            <a:custGeom>
              <a:avLst/>
              <a:gdLst/>
              <a:ahLst/>
              <a:cxnLst/>
              <a:rect l="l" t="t" r="r" b="b"/>
              <a:pathLst>
                <a:path w="2353310" h="5581882">
                  <a:moveTo>
                    <a:pt x="784860" y="5514572"/>
                  </a:moveTo>
                  <a:cubicBezTo>
                    <a:pt x="905510" y="5555212"/>
                    <a:pt x="1042670" y="5581882"/>
                    <a:pt x="1177290" y="5581882"/>
                  </a:cubicBezTo>
                  <a:cubicBezTo>
                    <a:pt x="1311910" y="5581882"/>
                    <a:pt x="1441450" y="5559022"/>
                    <a:pt x="1560830" y="5518382"/>
                  </a:cubicBezTo>
                  <a:cubicBezTo>
                    <a:pt x="1563370" y="5517112"/>
                    <a:pt x="1565910" y="5517112"/>
                    <a:pt x="1568450" y="5515842"/>
                  </a:cubicBezTo>
                  <a:cubicBezTo>
                    <a:pt x="2016760" y="5353282"/>
                    <a:pt x="2346960" y="4924022"/>
                    <a:pt x="2353310" y="4414024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410668"/>
                  </a:lnTo>
                  <a:cubicBezTo>
                    <a:pt x="6350" y="4926562"/>
                    <a:pt x="331470" y="5355822"/>
                    <a:pt x="784860" y="5514572"/>
                  </a:cubicBez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30" name="Group 30"/>
          <p:cNvGrpSpPr/>
          <p:nvPr/>
        </p:nvGrpSpPr>
        <p:grpSpPr>
          <a:xfrm rot="-5400000">
            <a:off x="568482" y="7350472"/>
            <a:ext cx="829509" cy="1966473"/>
            <a:chOff x="0" y="0"/>
            <a:chExt cx="2354580" cy="5581882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353310" cy="5581882"/>
            </a:xfrm>
            <a:custGeom>
              <a:avLst/>
              <a:gdLst/>
              <a:ahLst/>
              <a:cxnLst/>
              <a:rect l="l" t="t" r="r" b="b"/>
              <a:pathLst>
                <a:path w="2353310" h="5581882">
                  <a:moveTo>
                    <a:pt x="784860" y="5514572"/>
                  </a:moveTo>
                  <a:cubicBezTo>
                    <a:pt x="905510" y="5555212"/>
                    <a:pt x="1042670" y="5581882"/>
                    <a:pt x="1177290" y="5581882"/>
                  </a:cubicBezTo>
                  <a:cubicBezTo>
                    <a:pt x="1311910" y="5581882"/>
                    <a:pt x="1441450" y="5559022"/>
                    <a:pt x="1560830" y="5518382"/>
                  </a:cubicBezTo>
                  <a:cubicBezTo>
                    <a:pt x="1563370" y="5517112"/>
                    <a:pt x="1565910" y="5517112"/>
                    <a:pt x="1568450" y="5515842"/>
                  </a:cubicBezTo>
                  <a:cubicBezTo>
                    <a:pt x="2016760" y="5353282"/>
                    <a:pt x="2346960" y="4924022"/>
                    <a:pt x="2353310" y="4414024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410668"/>
                  </a:lnTo>
                  <a:cubicBezTo>
                    <a:pt x="6350" y="4926562"/>
                    <a:pt x="331470" y="5355822"/>
                    <a:pt x="784860" y="5514572"/>
                  </a:cubicBez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2123858" y="8038434"/>
            <a:ext cx="8123885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480"/>
              </a:lnSpc>
            </a:pPr>
            <a:r>
              <a:rPr lang="en-US" sz="3200" spc="320">
                <a:solidFill>
                  <a:srgbClr val="2B4A9D"/>
                </a:solidFill>
                <a:latin typeface="Lato Bold"/>
              </a:rPr>
              <a:t>Método _salvarTarefas </a:t>
            </a:r>
          </a:p>
        </p:txBody>
      </p:sp>
      <p:grpSp>
        <p:nvGrpSpPr>
          <p:cNvPr id="33" name="Group 33"/>
          <p:cNvGrpSpPr/>
          <p:nvPr/>
        </p:nvGrpSpPr>
        <p:grpSpPr>
          <a:xfrm rot="-5400000">
            <a:off x="568482" y="8389530"/>
            <a:ext cx="829509" cy="1966473"/>
            <a:chOff x="0" y="0"/>
            <a:chExt cx="2354580" cy="5581882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353310" cy="5581882"/>
            </a:xfrm>
            <a:custGeom>
              <a:avLst/>
              <a:gdLst/>
              <a:ahLst/>
              <a:cxnLst/>
              <a:rect l="l" t="t" r="r" b="b"/>
              <a:pathLst>
                <a:path w="2353310" h="5581882">
                  <a:moveTo>
                    <a:pt x="784860" y="5514572"/>
                  </a:moveTo>
                  <a:cubicBezTo>
                    <a:pt x="905510" y="5555212"/>
                    <a:pt x="1042670" y="5581882"/>
                    <a:pt x="1177290" y="5581882"/>
                  </a:cubicBezTo>
                  <a:cubicBezTo>
                    <a:pt x="1311910" y="5581882"/>
                    <a:pt x="1441450" y="5559022"/>
                    <a:pt x="1560830" y="5518382"/>
                  </a:cubicBezTo>
                  <a:cubicBezTo>
                    <a:pt x="1563370" y="5517112"/>
                    <a:pt x="1565910" y="5517112"/>
                    <a:pt x="1568450" y="5515842"/>
                  </a:cubicBezTo>
                  <a:cubicBezTo>
                    <a:pt x="2016760" y="5353282"/>
                    <a:pt x="2346960" y="4924022"/>
                    <a:pt x="2353310" y="4414024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410668"/>
                  </a:lnTo>
                  <a:cubicBezTo>
                    <a:pt x="6350" y="4926562"/>
                    <a:pt x="331470" y="5355822"/>
                    <a:pt x="784860" y="5514572"/>
                  </a:cubicBez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2123858" y="9065745"/>
            <a:ext cx="8123885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480"/>
              </a:lnSpc>
            </a:pPr>
            <a:r>
              <a:rPr lang="en-US" sz="3200" spc="320">
                <a:solidFill>
                  <a:srgbClr val="2B4A9D"/>
                </a:solidFill>
                <a:latin typeface="Lato Bold"/>
              </a:rPr>
              <a:t>Método _adicionarTarefa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028700" y="389357"/>
            <a:ext cx="16230600" cy="1564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5600" spc="280">
                <a:solidFill>
                  <a:srgbClr val="2B4A9D"/>
                </a:solidFill>
                <a:latin typeface="Poppins Ultra-Bold"/>
              </a:rPr>
              <a:t>Como funciona o armazenamento interno com arquivos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43929" y="2674614"/>
            <a:ext cx="16815371" cy="4321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3500" spc="350">
                <a:solidFill>
                  <a:srgbClr val="000000"/>
                </a:solidFill>
                <a:latin typeface="Lato"/>
              </a:rPr>
              <a:t>O armazenamento interno com arquivos refere-se à capacidade de um aplicativo de armazenar dados localmente no dispositivo do usuário.</a:t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3500" spc="350">
                <a:solidFill>
                  <a:srgbClr val="000000"/>
                </a:solidFill>
                <a:latin typeface="Lato"/>
              </a:rPr>
              <a:t>Ao trabalhar com armazenamento interno de arquivos, os desenvolvedores têm acesso a um diretório privado específico para o aplicativo, onde podem ler e gravar arquivos sem a necessidade de permissões especiais do usuário.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Freeform 4"/>
          <p:cNvSpPr/>
          <p:nvPr/>
        </p:nvSpPr>
        <p:spPr>
          <a:xfrm>
            <a:off x="4711109" y="6490068"/>
            <a:ext cx="8865781" cy="1725527"/>
          </a:xfrm>
          <a:custGeom>
            <a:avLst/>
            <a:gdLst/>
            <a:ahLst/>
            <a:cxnLst/>
            <a:rect l="l" t="t" r="r" b="b"/>
            <a:pathLst>
              <a:path w="8865781" h="1725527">
                <a:moveTo>
                  <a:pt x="0" y="0"/>
                </a:moveTo>
                <a:lnTo>
                  <a:pt x="8865782" y="0"/>
                </a:lnTo>
                <a:lnTo>
                  <a:pt x="8865782" y="1725527"/>
                </a:lnTo>
                <a:lnTo>
                  <a:pt x="0" y="17255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18459" b="-18459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TextBox 5"/>
          <p:cNvSpPr txBox="1"/>
          <p:nvPr/>
        </p:nvSpPr>
        <p:spPr>
          <a:xfrm>
            <a:off x="3658873" y="389357"/>
            <a:ext cx="10970254" cy="853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89"/>
              </a:lnSpc>
            </a:pPr>
            <a:r>
              <a:rPr lang="en-US" sz="5799" spc="289">
                <a:solidFill>
                  <a:srgbClr val="2B4A9D"/>
                </a:solidFill>
                <a:latin typeface="Poppins Ultra-Bold"/>
              </a:rPr>
              <a:t>Pacote path_provider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63028" y="1569289"/>
            <a:ext cx="16896272" cy="4050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2472" lvl="1" indent="-356236" algn="just">
              <a:lnSpc>
                <a:spcPts val="4620"/>
              </a:lnSpc>
              <a:buFont typeface="Arial"/>
              <a:buChar char="•"/>
            </a:pPr>
            <a:r>
              <a:rPr lang="en-US" sz="3300" spc="330">
                <a:solidFill>
                  <a:srgbClr val="000000"/>
                </a:solidFill>
                <a:latin typeface="Lato"/>
              </a:rPr>
              <a:t>O path_provider é um pacote do Flutter que fornece acesso aos caminhos de armazenamento comuns em dispositivos móveis, como a pasta de documentos e a pasta de armazenamento interno. Ele é útil quando você precisa armazenar arquivos que devem ser acessíveis pelo usuário ou pelo aplicativo.</a:t>
            </a:r>
          </a:p>
          <a:p>
            <a:pPr marL="712472" lvl="1" indent="-356236" algn="just">
              <a:lnSpc>
                <a:spcPts val="4620"/>
              </a:lnSpc>
              <a:buFont typeface="Arial"/>
              <a:buChar char="•"/>
            </a:pPr>
            <a:r>
              <a:rPr lang="en-US" sz="3300" spc="330">
                <a:solidFill>
                  <a:srgbClr val="000000"/>
                </a:solidFill>
                <a:latin typeface="Lato"/>
              </a:rPr>
              <a:t>Para começar a usar o path_provider, primeiro você precisa adicioná-lo como dependência no seu arquivo pubspec.yaml: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3658873" y="379832"/>
            <a:ext cx="10970254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6000" spc="300">
                <a:solidFill>
                  <a:srgbClr val="2B4A9D"/>
                </a:solidFill>
                <a:latin typeface="Poppins Ultra-Bold"/>
              </a:rPr>
              <a:t>Classes File e Directory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4977" y="3161461"/>
            <a:ext cx="16442627" cy="3498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8" lvl="1" indent="-431799" algn="just">
              <a:lnSpc>
                <a:spcPts val="5599"/>
              </a:lnSpc>
              <a:buFont typeface="Arial"/>
              <a:buChar char="•"/>
            </a:pPr>
            <a:r>
              <a:rPr lang="en-US" sz="3999" spc="399">
                <a:solidFill>
                  <a:srgbClr val="000000"/>
                </a:solidFill>
                <a:latin typeface="Lato"/>
              </a:rPr>
              <a:t>Algumas classes, como File e Directory, são essenciais para interagir com o sistema de arquivos do dispositivo e são frequentemente usadas ao desenvolver aplicativos que precisam ler, escrever ou manipular arquivos e diretórios.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3492570" y="379832"/>
            <a:ext cx="11302861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6000" spc="300">
                <a:solidFill>
                  <a:srgbClr val="2B4A9D"/>
                </a:solidFill>
                <a:latin typeface="Poppins Ultra-Bold"/>
              </a:rPr>
              <a:t>Classe File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63028" y="2285321"/>
            <a:ext cx="17096129" cy="6178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3500" spc="350">
                <a:solidFill>
                  <a:srgbClr val="000000"/>
                </a:solidFill>
                <a:latin typeface="Lato"/>
              </a:rPr>
              <a:t>A classe File é usada para representar um arquivo.</a:t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3500" spc="350">
                <a:solidFill>
                  <a:srgbClr val="000000"/>
                </a:solidFill>
                <a:latin typeface="Lato"/>
              </a:rPr>
              <a:t>Ela fornece métodos para ler, escrever, verificar a existência, excluir, renomear e obter informações sobre o arquivo (como tamanho e data de modificação), entre outras operações.</a:t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3500" spc="350">
                <a:solidFill>
                  <a:srgbClr val="000000"/>
                </a:solidFill>
                <a:latin typeface="Lato"/>
              </a:rPr>
              <a:t>Alguns dos métodos mais comuns da classe File incluem:</a:t>
            </a:r>
          </a:p>
          <a:p>
            <a:pPr marL="1511301" lvl="2" indent="-503767" algn="just">
              <a:lnSpc>
                <a:spcPts val="4900"/>
              </a:lnSpc>
              <a:buFont typeface="Arial"/>
              <a:buChar char="⚬"/>
            </a:pPr>
            <a:r>
              <a:rPr lang="en-US" sz="3500" spc="350">
                <a:solidFill>
                  <a:srgbClr val="000000"/>
                </a:solidFill>
                <a:latin typeface="Lato"/>
              </a:rPr>
              <a:t>exists(): Verifica se o arquivo existe.</a:t>
            </a:r>
          </a:p>
          <a:p>
            <a:pPr marL="1511301" lvl="2" indent="-503767" algn="just">
              <a:lnSpc>
                <a:spcPts val="4900"/>
              </a:lnSpc>
              <a:buFont typeface="Arial"/>
              <a:buChar char="⚬"/>
            </a:pPr>
            <a:r>
              <a:rPr lang="en-US" sz="3500" spc="350">
                <a:solidFill>
                  <a:srgbClr val="000000"/>
                </a:solidFill>
                <a:latin typeface="Lato"/>
              </a:rPr>
              <a:t>readAsString(): Lê o conteúdo do arquivo como uma string.</a:t>
            </a:r>
          </a:p>
          <a:p>
            <a:pPr marL="1511301" lvl="2" indent="-503767" algn="just">
              <a:lnSpc>
                <a:spcPts val="4900"/>
              </a:lnSpc>
              <a:buFont typeface="Arial"/>
              <a:buChar char="⚬"/>
            </a:pPr>
            <a:r>
              <a:rPr lang="en-US" sz="3500" spc="350">
                <a:solidFill>
                  <a:srgbClr val="000000"/>
                </a:solidFill>
                <a:latin typeface="Lato"/>
              </a:rPr>
              <a:t>writeAsString(): Escreve uma string no arquivo.</a:t>
            </a:r>
          </a:p>
          <a:p>
            <a:pPr marL="1511301" lvl="2" indent="-503767" algn="just">
              <a:lnSpc>
                <a:spcPts val="4900"/>
              </a:lnSpc>
              <a:buFont typeface="Arial"/>
              <a:buChar char="⚬"/>
            </a:pPr>
            <a:r>
              <a:rPr lang="en-US" sz="3500" spc="350">
                <a:solidFill>
                  <a:srgbClr val="000000"/>
                </a:solidFill>
                <a:latin typeface="Lato"/>
              </a:rPr>
              <a:t>delete(): Exclui o arquivo do sistema de arquivos.</a:t>
            </a:r>
          </a:p>
          <a:p>
            <a:pPr marL="1511301" lvl="2" indent="-503767" algn="just">
              <a:lnSpc>
                <a:spcPts val="4900"/>
              </a:lnSpc>
              <a:buFont typeface="Arial"/>
              <a:buChar char="⚬"/>
            </a:pPr>
            <a:r>
              <a:rPr lang="en-US" sz="3500" spc="350">
                <a:solidFill>
                  <a:srgbClr val="000000"/>
                </a:solidFill>
                <a:latin typeface="Lato"/>
              </a:rPr>
              <a:t>rename(): Renomeia o arquivo.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492570" y="389357"/>
            <a:ext cx="11302861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5600" spc="280">
                <a:solidFill>
                  <a:srgbClr val="2B4A9D"/>
                </a:solidFill>
                <a:latin typeface="Poppins Ultra-Bold"/>
              </a:rPr>
              <a:t>Classe File - Exemplo de uso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5FEA146-0027-3F8E-E952-B3D816FA14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3286" y="3009900"/>
            <a:ext cx="11381427" cy="505322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363028" y="2294846"/>
            <a:ext cx="16896272" cy="5043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2" lvl="1" indent="-345441" algn="just">
              <a:lnSpc>
                <a:spcPts val="4480"/>
              </a:lnSpc>
              <a:buFont typeface="Arial"/>
              <a:buChar char="•"/>
            </a:pPr>
            <a:r>
              <a:rPr lang="en-US" sz="3200" spc="320">
                <a:solidFill>
                  <a:srgbClr val="000000"/>
                </a:solidFill>
                <a:latin typeface="Lato"/>
              </a:rPr>
              <a:t>A classe Directory é usada para representar um diretório no sistema de arquivos.</a:t>
            </a:r>
          </a:p>
          <a:p>
            <a:pPr marL="690882" lvl="1" indent="-345441" algn="just">
              <a:lnSpc>
                <a:spcPts val="4480"/>
              </a:lnSpc>
              <a:buFont typeface="Arial"/>
              <a:buChar char="•"/>
            </a:pPr>
            <a:r>
              <a:rPr lang="en-US" sz="3200" spc="320">
                <a:solidFill>
                  <a:srgbClr val="000000"/>
                </a:solidFill>
                <a:latin typeface="Lato"/>
              </a:rPr>
              <a:t>Ela fornece métodos para criar, listar, verificar a existência e excluir diretórios, entre outras operações.</a:t>
            </a:r>
          </a:p>
          <a:p>
            <a:pPr marL="690882" lvl="1" indent="-345441" algn="just">
              <a:lnSpc>
                <a:spcPts val="4480"/>
              </a:lnSpc>
              <a:buFont typeface="Arial"/>
              <a:buChar char="•"/>
            </a:pPr>
            <a:r>
              <a:rPr lang="en-US" sz="3200" spc="320">
                <a:solidFill>
                  <a:srgbClr val="000000"/>
                </a:solidFill>
                <a:latin typeface="Lato"/>
              </a:rPr>
              <a:t>Métodos:</a:t>
            </a:r>
          </a:p>
          <a:p>
            <a:pPr marL="1381764" lvl="2" indent="-460588" algn="just">
              <a:lnSpc>
                <a:spcPts val="4480"/>
              </a:lnSpc>
              <a:buFont typeface="Arial"/>
              <a:buChar char="⚬"/>
            </a:pPr>
            <a:r>
              <a:rPr lang="en-US" sz="3200" spc="320">
                <a:solidFill>
                  <a:srgbClr val="000000"/>
                </a:solidFill>
                <a:latin typeface="Lato"/>
              </a:rPr>
              <a:t>exists(): Verifica se o diretório existe.</a:t>
            </a:r>
          </a:p>
          <a:p>
            <a:pPr marL="1381764" lvl="2" indent="-460588" algn="just">
              <a:lnSpc>
                <a:spcPts val="4480"/>
              </a:lnSpc>
              <a:buFont typeface="Arial"/>
              <a:buChar char="⚬"/>
            </a:pPr>
            <a:r>
              <a:rPr lang="en-US" sz="3200" spc="320">
                <a:solidFill>
                  <a:srgbClr val="000000"/>
                </a:solidFill>
                <a:latin typeface="Lato"/>
              </a:rPr>
              <a:t>create(): Cria o diretório.</a:t>
            </a:r>
          </a:p>
          <a:p>
            <a:pPr marL="1381764" lvl="2" indent="-460588" algn="just">
              <a:lnSpc>
                <a:spcPts val="4480"/>
              </a:lnSpc>
              <a:buFont typeface="Arial"/>
              <a:buChar char="⚬"/>
            </a:pPr>
            <a:r>
              <a:rPr lang="en-US" sz="3200" spc="320">
                <a:solidFill>
                  <a:srgbClr val="000000"/>
                </a:solidFill>
                <a:latin typeface="Lato"/>
              </a:rPr>
              <a:t>list(): Lista o conteúdo do diretório.</a:t>
            </a:r>
          </a:p>
          <a:p>
            <a:pPr marL="1381764" lvl="2" indent="-460588" algn="just">
              <a:lnSpc>
                <a:spcPts val="4480"/>
              </a:lnSpc>
              <a:buFont typeface="Arial"/>
              <a:buChar char="⚬"/>
            </a:pPr>
            <a:r>
              <a:rPr lang="en-US" sz="3200" spc="320">
                <a:solidFill>
                  <a:srgbClr val="000000"/>
                </a:solidFill>
                <a:latin typeface="Lato"/>
              </a:rPr>
              <a:t>delete(): Exclui o diretório.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492570" y="379832"/>
            <a:ext cx="11302861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6000" spc="300">
                <a:solidFill>
                  <a:srgbClr val="2B4A9D"/>
                </a:solidFill>
                <a:latin typeface="Poppins Ultra-Bold"/>
              </a:rPr>
              <a:t>Classe Directory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492570" y="389357"/>
            <a:ext cx="11302861" cy="1564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5600" spc="280">
                <a:solidFill>
                  <a:srgbClr val="2B4A9D"/>
                </a:solidFill>
                <a:latin typeface="Poppins Ultra-Bold"/>
              </a:rPr>
              <a:t>Classe Directory - Exemplo de uso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CE69BFB-18A6-84C9-419A-BD4151F9EB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500" y="5143500"/>
            <a:ext cx="11811000" cy="235511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3658873" y="379832"/>
            <a:ext cx="11499905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6000" spc="300">
                <a:solidFill>
                  <a:srgbClr val="2B4A9D"/>
                </a:solidFill>
                <a:latin typeface="Poppins Ultra-Bold"/>
              </a:rPr>
              <a:t>Aplicação Lista de Tarefas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47461" y="1569289"/>
            <a:ext cx="16637320" cy="1671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2" lvl="1" indent="-345441" algn="just">
              <a:lnSpc>
                <a:spcPts val="4480"/>
              </a:lnSpc>
              <a:buFont typeface="Arial"/>
              <a:buChar char="•"/>
            </a:pPr>
            <a:r>
              <a:rPr lang="en-US" sz="3200" spc="320">
                <a:solidFill>
                  <a:srgbClr val="000000"/>
                </a:solidFill>
                <a:latin typeface="Lato"/>
              </a:rPr>
              <a:t>Baixe o arquivo lista_de_tarefas.dart, nessa aplicação foi utilizado armazenamento de arquivos para criar e salvar uma lista de tarefas simples, em um arquivo txt.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452CA9F2-14C8-26C1-48CF-A8D8A8C27D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3998936"/>
            <a:ext cx="5842519" cy="4910047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C2BB293A-966E-71B2-028C-DF5DE91348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3998935"/>
            <a:ext cx="5815292" cy="491004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658873" y="379832"/>
            <a:ext cx="11499905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6000" spc="300">
                <a:solidFill>
                  <a:srgbClr val="2B4A9D"/>
                </a:solidFill>
                <a:latin typeface="Poppins Ultra-Bold"/>
              </a:rPr>
              <a:t>Método _carregarTarefas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47461" y="1569289"/>
            <a:ext cx="16637320" cy="1671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2" lvl="1" indent="-345441" algn="just">
              <a:lnSpc>
                <a:spcPts val="4480"/>
              </a:lnSpc>
              <a:buFont typeface="Arial"/>
              <a:buChar char="•"/>
            </a:pPr>
            <a:r>
              <a:rPr lang="en-US" sz="3200" spc="320">
                <a:solidFill>
                  <a:srgbClr val="000000"/>
                </a:solidFill>
                <a:latin typeface="Lato"/>
              </a:rPr>
              <a:t>Este método carrega as tarefas salvas de um arquivo de texto no armazenamento interno do dispositivo.</a:t>
            </a:r>
          </a:p>
          <a:p>
            <a:pPr marL="690882" lvl="1" indent="-345441" algn="just">
              <a:lnSpc>
                <a:spcPts val="4480"/>
              </a:lnSpc>
              <a:buFont typeface="Arial"/>
              <a:buChar char="•"/>
            </a:pPr>
            <a:r>
              <a:rPr lang="en-US" sz="3200" spc="320">
                <a:solidFill>
                  <a:srgbClr val="000000"/>
                </a:solidFill>
                <a:latin typeface="Lato"/>
              </a:rPr>
              <a:t>Caso o arquivo já exista, ele lê o conteúdo e atualiza a lista de tarefas.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5D2ED90B-07FF-85CF-3342-3E3C32A91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4457700"/>
            <a:ext cx="9431121" cy="414359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658873" y="379832"/>
            <a:ext cx="11499905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6000" spc="300">
                <a:solidFill>
                  <a:srgbClr val="2B4A9D"/>
                </a:solidFill>
                <a:latin typeface="Poppins Ultra-Bold"/>
              </a:rPr>
              <a:t>Método _salvarTarefas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23845" y="1809402"/>
            <a:ext cx="16637320" cy="2233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2" lvl="1" indent="-345441" algn="just">
              <a:lnSpc>
                <a:spcPts val="4480"/>
              </a:lnSpc>
              <a:buFont typeface="Arial"/>
              <a:buChar char="•"/>
            </a:pPr>
            <a:r>
              <a:rPr lang="en-US" sz="3200" spc="320">
                <a:solidFill>
                  <a:srgbClr val="000000"/>
                </a:solidFill>
                <a:latin typeface="Lato"/>
              </a:rPr>
              <a:t>Este método salva as tarefas atuais em um arquivo de texto no armazenamento interno do dispositivo.</a:t>
            </a:r>
          </a:p>
          <a:p>
            <a:pPr marL="690882" lvl="1" indent="-345441" algn="just">
              <a:lnSpc>
                <a:spcPts val="4480"/>
              </a:lnSpc>
              <a:buFont typeface="Arial"/>
              <a:buChar char="•"/>
            </a:pPr>
            <a:r>
              <a:rPr lang="en-US" sz="3200" spc="320">
                <a:solidFill>
                  <a:srgbClr val="000000"/>
                </a:solidFill>
                <a:latin typeface="Lato"/>
              </a:rPr>
              <a:t>Ele converte a lista de tarefas em uma única string, separando as tarefas por quebras de linha.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FB3E01F4-8DFA-056C-1769-46F858C8BA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7762" y="5110162"/>
            <a:ext cx="10872476" cy="257662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3658873" y="379832"/>
            <a:ext cx="11499905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6000" spc="300">
                <a:solidFill>
                  <a:srgbClr val="2B4A9D"/>
                </a:solidFill>
                <a:latin typeface="Poppins Ultra-Bold"/>
              </a:rPr>
              <a:t>Método _adicionarTarefa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21980" y="2773709"/>
            <a:ext cx="16637320" cy="3357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2" lvl="1" indent="-345441" algn="just">
              <a:lnSpc>
                <a:spcPts val="4480"/>
              </a:lnSpc>
              <a:buFont typeface="Arial"/>
              <a:buChar char="•"/>
            </a:pPr>
            <a:r>
              <a:rPr lang="en-US" sz="3200" spc="320">
                <a:solidFill>
                  <a:srgbClr val="000000"/>
                </a:solidFill>
                <a:latin typeface="Lato"/>
              </a:rPr>
              <a:t>Este método é chamado quando o usuário clica no botão flutuante “+” para adicionar uma nova tarefa.</a:t>
            </a:r>
          </a:p>
          <a:p>
            <a:pPr marL="690882" lvl="1" indent="-345441" algn="just">
              <a:lnSpc>
                <a:spcPts val="4480"/>
              </a:lnSpc>
              <a:buFont typeface="Arial"/>
              <a:buChar char="•"/>
            </a:pPr>
            <a:r>
              <a:rPr lang="en-US" sz="3200" spc="320">
                <a:solidFill>
                  <a:srgbClr val="000000"/>
                </a:solidFill>
                <a:latin typeface="Lato"/>
              </a:rPr>
              <a:t>Ele exibe um diálogo de alerta com um campo de texto para que o usuário insira a sua nova tarefa.</a:t>
            </a:r>
          </a:p>
          <a:p>
            <a:pPr marL="690882" lvl="1" indent="-345441" algn="just">
              <a:lnSpc>
                <a:spcPts val="4480"/>
              </a:lnSpc>
              <a:buFont typeface="Arial"/>
              <a:buChar char="•"/>
            </a:pPr>
            <a:r>
              <a:rPr lang="en-US" sz="3200" spc="320">
                <a:solidFill>
                  <a:srgbClr val="000000"/>
                </a:solidFill>
                <a:latin typeface="Lato"/>
              </a:rPr>
              <a:t>Então, após o usuário confirmar a adição da tarefa, ela é adicionada à lista, salva e o diálogo é fechado.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5" name="Group 5"/>
          <p:cNvGrpSpPr/>
          <p:nvPr/>
        </p:nvGrpSpPr>
        <p:grpSpPr>
          <a:xfrm rot="-2700000">
            <a:off x="15004959" y="1860459"/>
            <a:ext cx="6566081" cy="6566081"/>
            <a:chOff x="0" y="0"/>
            <a:chExt cx="1913890" cy="191389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5271FF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7" name="Group 7"/>
          <p:cNvGrpSpPr/>
          <p:nvPr/>
        </p:nvGrpSpPr>
        <p:grpSpPr>
          <a:xfrm rot="2700000">
            <a:off x="15361560" y="2217060"/>
            <a:ext cx="5852880" cy="5852880"/>
            <a:chOff x="0" y="0"/>
            <a:chExt cx="1913890" cy="191389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</p:grpSp>
      <p:pic>
        <p:nvPicPr>
          <p:cNvPr id="10" name="Imagem 9">
            <a:extLst>
              <a:ext uri="{FF2B5EF4-FFF2-40B4-BE49-F238E27FC236}">
                <a16:creationId xmlns:a16="http://schemas.microsoft.com/office/drawing/2014/main" id="{E9C0CDDD-4DBF-F199-F76B-BD2C35EE72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1511597"/>
            <a:ext cx="7467600" cy="726380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16086" y="379832"/>
            <a:ext cx="8855829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6000" spc="300">
                <a:solidFill>
                  <a:srgbClr val="2B4A9D"/>
                </a:solidFill>
                <a:latin typeface="Poppins Ultra-Bold"/>
              </a:rPr>
              <a:t>Referências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16673" y="1687967"/>
            <a:ext cx="16442627" cy="4271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27"/>
              </a:lnSpc>
            </a:pPr>
            <a:r>
              <a:rPr lang="en-US" sz="2799" spc="139">
                <a:solidFill>
                  <a:srgbClr val="000000"/>
                </a:solidFill>
                <a:latin typeface="Poppins Bold"/>
              </a:rPr>
              <a:t>Building user interfaces with Flutter.</a:t>
            </a:r>
            <a:r>
              <a:rPr lang="en-US" sz="2799" spc="139">
                <a:solidFill>
                  <a:srgbClr val="000000"/>
                </a:solidFill>
                <a:latin typeface="Poppins"/>
              </a:rPr>
              <a:t> Disponível em: &lt;https://docs.flutter.dev/ui&gt;. Acesso em: 24 mar. 2024.</a:t>
            </a:r>
          </a:p>
          <a:p>
            <a:pPr algn="just">
              <a:lnSpc>
                <a:spcPts val="4227"/>
              </a:lnSpc>
            </a:pPr>
            <a:endParaRPr lang="en-US" sz="2799" spc="139">
              <a:solidFill>
                <a:srgbClr val="000000"/>
              </a:solidFill>
              <a:latin typeface="Poppins"/>
            </a:endParaRPr>
          </a:p>
          <a:p>
            <a:pPr algn="just">
              <a:lnSpc>
                <a:spcPts val="4227"/>
              </a:lnSpc>
            </a:pPr>
            <a:r>
              <a:rPr lang="en-US" sz="2799" spc="139">
                <a:solidFill>
                  <a:srgbClr val="000000"/>
                </a:solidFill>
                <a:latin typeface="Poppins"/>
              </a:rPr>
              <a:t>VIANA, G. </a:t>
            </a:r>
            <a:r>
              <a:rPr lang="en-US" sz="2799" spc="139">
                <a:solidFill>
                  <a:srgbClr val="000000"/>
                </a:solidFill>
                <a:latin typeface="Poppins Bold"/>
              </a:rPr>
              <a:t>Obtendo acesso às pastas de documentos e de armazenamento interno com o path_provider no Flutter.</a:t>
            </a:r>
            <a:r>
              <a:rPr lang="en-US" sz="2799" spc="139">
                <a:solidFill>
                  <a:srgbClr val="000000"/>
                </a:solidFill>
                <a:latin typeface="Poppins"/>
              </a:rPr>
              <a:t> Disponível em: &lt;https://medium.com/@gsvianna13/obtendo-acesso-%C3%A0s-pastas-de-documentos-e-armazenamento-interno-com-o-path-provider-no-flutter-6b68f11b5cfd&gt;. Acesso em: 24 mar. 2024.</a:t>
            </a:r>
          </a:p>
        </p:txBody>
      </p:sp>
      <p:grpSp>
        <p:nvGrpSpPr>
          <p:cNvPr id="4" name="Group 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656</Words>
  <Application>Microsoft Office PowerPoint</Application>
  <PresentationFormat>Personalizar</PresentationFormat>
  <Paragraphs>53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3" baseType="lpstr">
      <vt:lpstr>Poppins</vt:lpstr>
      <vt:lpstr>Poppins Bold</vt:lpstr>
      <vt:lpstr>Calibri</vt:lpstr>
      <vt:lpstr>Lato Bold</vt:lpstr>
      <vt:lpstr>Arial</vt:lpstr>
      <vt:lpstr>Lato</vt:lpstr>
      <vt:lpstr>Poppins Ultra-Bold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Aula12-Armazenamento Interno com Arquivos</dc:title>
  <cp:lastModifiedBy>Paulo Vítor</cp:lastModifiedBy>
  <cp:revision>3</cp:revision>
  <dcterms:created xsi:type="dcterms:W3CDTF">2006-08-16T00:00:00Z</dcterms:created>
  <dcterms:modified xsi:type="dcterms:W3CDTF">2025-11-25T02:04:22Z</dcterms:modified>
  <dc:identifier>DAF-XfFka0w</dc:identifier>
</cp:coreProperties>
</file>