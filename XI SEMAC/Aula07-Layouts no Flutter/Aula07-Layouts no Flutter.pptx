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Lato Bold" panose="020F0502020204030203" charset="0"/>
      <p:regular r:id="rId19"/>
      <p:bold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Bold" panose="00000800000000000000" charset="0"/>
      <p:regular r:id="rId25"/>
      <p:bold r:id="rId26"/>
    </p:embeddedFont>
    <p:embeddedFont>
      <p:font typeface="Poppins Ultra-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E03CD-EFF0-41C2-AA4E-14BAF2BC1F0F}" v="28" dt="2024-03-31T17:54:42.808"/>
    <p1510:client id="{4614427A-7FD7-4BB3-BFFA-0F1CA40DB76D}" v="195" dt="2024-03-31T18:06:44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151" y="4571985"/>
            <a:ext cx="12859928" cy="118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1"/>
              </a:lnSpc>
            </a:pPr>
            <a:r>
              <a:rPr lang="en-US" sz="8001" spc="400">
                <a:solidFill>
                  <a:srgbClr val="2B4A9D"/>
                </a:solidFill>
                <a:latin typeface="Poppins Bold"/>
              </a:rPr>
              <a:t>Layouts no Flutter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151" y="7260387"/>
            <a:ext cx="12616379" cy="3033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: </a:t>
            </a:r>
          </a:p>
          <a:p>
            <a:pPr>
              <a:lnSpc>
                <a:spcPts val="4900"/>
              </a:lnSpc>
            </a:pPr>
            <a:r>
              <a:rPr lang="en-US" sz="3200" spc="350" dirty="0">
                <a:solidFill>
                  <a:srgbClr val="000000"/>
                </a:solidFill>
                <a:latin typeface="Lato"/>
              </a:rPr>
              <a:t>Paulo Vitor</a:t>
            </a:r>
          </a:p>
          <a:p>
            <a:pPr>
              <a:lnSpc>
                <a:spcPts val="4900"/>
              </a:lnSpc>
            </a:pPr>
            <a:r>
              <a:rPr lang="en-US" sz="32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200" spc="350" dirty="0">
                <a:solidFill>
                  <a:srgbClr val="000000"/>
                </a:solidFill>
                <a:latin typeface="Lato"/>
              </a:rPr>
              <a:t> Vasconcelos</a:t>
            </a:r>
          </a:p>
          <a:p>
            <a:pPr>
              <a:lnSpc>
                <a:spcPts val="4900"/>
              </a:lnSpc>
            </a:pPr>
            <a:r>
              <a:rPr lang="en-US" sz="3200" spc="350" dirty="0">
                <a:solidFill>
                  <a:srgbClr val="000000"/>
                </a:solidFill>
                <a:latin typeface="Lato"/>
              </a:rPr>
              <a:t>João Hungria</a:t>
            </a:r>
          </a:p>
          <a:p>
            <a:pPr>
              <a:lnSpc>
                <a:spcPts val="4480"/>
              </a:lnSpc>
            </a:pPr>
            <a:endParaRPr lang="en-US" sz="3200" spc="320" dirty="0">
              <a:solidFill>
                <a:srgbClr val="000000"/>
              </a:solidFill>
              <a:latin typeface="Lat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568482" y="3884156"/>
            <a:ext cx="829509" cy="1966473"/>
            <a:chOff x="0" y="0"/>
            <a:chExt cx="2354580" cy="55818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68482" y="5213428"/>
            <a:ext cx="829509" cy="1966473"/>
            <a:chOff x="0" y="0"/>
            <a:chExt cx="2354580" cy="5581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123218" y="3176705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Introdução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3858" y="7195202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Row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3218" y="5855352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Column</a:t>
            </a:r>
          </a:p>
        </p:txBody>
      </p:sp>
      <p:grpSp>
        <p:nvGrpSpPr>
          <p:cNvPr id="24" name="Group 24"/>
          <p:cNvGrpSpPr/>
          <p:nvPr/>
        </p:nvGrpSpPr>
        <p:grpSpPr>
          <a:xfrm rot="-5400000">
            <a:off x="568482" y="6538237"/>
            <a:ext cx="829509" cy="1966473"/>
            <a:chOff x="0" y="0"/>
            <a:chExt cx="2354580" cy="558188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123858" y="8535052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Container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23858" y="4516029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Center</a:t>
            </a:r>
          </a:p>
        </p:txBody>
      </p:sp>
      <p:grpSp>
        <p:nvGrpSpPr>
          <p:cNvPr id="28" name="Group 28"/>
          <p:cNvGrpSpPr/>
          <p:nvPr/>
        </p:nvGrpSpPr>
        <p:grpSpPr>
          <a:xfrm rot="-5400000">
            <a:off x="568482" y="7863045"/>
            <a:ext cx="829509" cy="1966473"/>
            <a:chOff x="0" y="0"/>
            <a:chExt cx="2354580" cy="55818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0328456" y="2105510"/>
            <a:ext cx="7345479" cy="6075980"/>
          </a:xfrm>
          <a:custGeom>
            <a:avLst/>
            <a:gdLst/>
            <a:ahLst/>
            <a:cxnLst/>
            <a:rect l="l" t="t" r="r" b="b"/>
            <a:pathLst>
              <a:path w="7345479" h="6075980">
                <a:moveTo>
                  <a:pt x="0" y="0"/>
                </a:moveTo>
                <a:lnTo>
                  <a:pt x="7345478" y="0"/>
                </a:lnTo>
                <a:lnTo>
                  <a:pt x="7345478" y="6075980"/>
                </a:lnTo>
                <a:lnTo>
                  <a:pt x="0" y="6075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Introdução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452" y="2285321"/>
            <a:ext cx="9987774" cy="30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No geral, o layout de uma tela é composto por Widgets visíveis, como barras de menu, painéis, imagens etc., e também por Widgets invisíveis, como linhas, colunas e grades.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452" y="5717690"/>
            <a:ext cx="9987774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Esses Widgets invisíveis usamos para organizar a tela, alinhando os Widgets visíveis e delimitando o espaço que eles ocupam.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13225" y="8133865"/>
            <a:ext cx="8174775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Figura 01 - Layouts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Fonte: &lt;https://www.devmedia.com.br/flutter-criando-layouts-com-center-column-e-row/40743&gt;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2321994" y="1708150"/>
            <a:ext cx="3876025" cy="6405886"/>
          </a:xfrm>
          <a:custGeom>
            <a:avLst/>
            <a:gdLst/>
            <a:ahLst/>
            <a:cxnLst/>
            <a:rect l="l" t="t" r="r" b="b"/>
            <a:pathLst>
              <a:path w="3876025" h="6405886">
                <a:moveTo>
                  <a:pt x="0" y="0"/>
                </a:moveTo>
                <a:lnTo>
                  <a:pt x="3876025" y="0"/>
                </a:lnTo>
                <a:lnTo>
                  <a:pt x="3876025" y="6405886"/>
                </a:lnTo>
                <a:lnTo>
                  <a:pt x="0" y="6405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Center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6420" y="2194018"/>
            <a:ext cx="10045594" cy="6167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Centraliza todos os seus Widgets filhos. E para customizar a forma como essa centralização ocorre, podemos usar propriedades que determinam as dimensões de Center.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heightFactor: Se o valor não for nulo, define a altura de Center pela altura do filho multiplicado por esse valor.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widthFactor: Se o valor não for nulo, define a largura de Center pela largura do filho multiplicado por esse valor.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32013" y="8001711"/>
            <a:ext cx="8055987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Figura 02 - Layout center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Fonte: &lt;https://www.devmedia.com.br/flutter-criando-layouts-com-center-column-e-row/40743&gt;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485226" y="1819761"/>
            <a:ext cx="7764879" cy="4081271"/>
          </a:xfrm>
          <a:custGeom>
            <a:avLst/>
            <a:gdLst/>
            <a:ahLst/>
            <a:cxnLst/>
            <a:rect l="l" t="t" r="r" b="b"/>
            <a:pathLst>
              <a:path w="7764879" h="4081271">
                <a:moveTo>
                  <a:pt x="0" y="0"/>
                </a:moveTo>
                <a:lnTo>
                  <a:pt x="7764879" y="0"/>
                </a:lnTo>
                <a:lnTo>
                  <a:pt x="7764879" y="4081271"/>
                </a:lnTo>
                <a:lnTo>
                  <a:pt x="0" y="4081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2537293" y="1962273"/>
            <a:ext cx="3159184" cy="5757499"/>
          </a:xfrm>
          <a:custGeom>
            <a:avLst/>
            <a:gdLst/>
            <a:ahLst/>
            <a:cxnLst/>
            <a:rect l="l" t="t" r="r" b="b"/>
            <a:pathLst>
              <a:path w="3159184" h="5757499">
                <a:moveTo>
                  <a:pt x="0" y="0"/>
                </a:moveTo>
                <a:lnTo>
                  <a:pt x="3159185" y="0"/>
                </a:lnTo>
                <a:lnTo>
                  <a:pt x="3159185" y="5757499"/>
                </a:lnTo>
                <a:lnTo>
                  <a:pt x="0" y="5757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Center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32762" y="8000998"/>
            <a:ext cx="496824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Figura 03 - Execução center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3779" y="6784880"/>
            <a:ext cx="9987774" cy="226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Neste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exemplo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propriedade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heightFactor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define 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altura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de Center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multiplicando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seu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valor (2) pela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altura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do Text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filho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</a:t>
            </a:r>
            <a:endParaRPr lang="pt-BR" dirty="0"/>
          </a:p>
        </p:txBody>
      </p:sp>
      <p:sp>
        <p:nvSpPr>
          <p:cNvPr id="9" name="TextBox 9"/>
          <p:cNvSpPr txBox="1"/>
          <p:nvPr/>
        </p:nvSpPr>
        <p:spPr>
          <a:xfrm>
            <a:off x="1717570" y="6037204"/>
            <a:ext cx="7303327" cy="369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20" dirty="0">
                <a:solidFill>
                  <a:srgbClr val="000000"/>
                </a:solidFill>
                <a:latin typeface="Lato"/>
              </a:rPr>
              <a:t>Código </a:t>
            </a:r>
            <a:r>
              <a:rPr lang="en-US" sz="2200" spc="220" dirty="0" err="1">
                <a:solidFill>
                  <a:srgbClr val="000000"/>
                </a:solidFill>
                <a:latin typeface="Lato"/>
              </a:rPr>
              <a:t>completo</a:t>
            </a:r>
            <a:r>
              <a:rPr lang="en-US" sz="2200" spc="2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200" spc="220" dirty="0" err="1">
                <a:solidFill>
                  <a:srgbClr val="000000"/>
                </a:solidFill>
                <a:latin typeface="Lato"/>
              </a:rPr>
              <a:t>disponível</a:t>
            </a:r>
            <a:r>
              <a:rPr lang="en-US" sz="2200" spc="2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200" spc="22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2200" spc="220" dirty="0">
                <a:solidFill>
                  <a:srgbClr val="000000"/>
                </a:solidFill>
                <a:latin typeface="Lato"/>
              </a:rPr>
              <a:t> </a:t>
            </a:r>
            <a:r>
              <a:rPr lang="en-US" sz="2200" spc="220" dirty="0" err="1">
                <a:solidFill>
                  <a:srgbClr val="000000"/>
                </a:solidFill>
                <a:ea typeface="+mn-lt"/>
                <a:cs typeface="+mn-lt"/>
              </a:rPr>
              <a:t>layoutCenter.dart</a:t>
            </a:r>
            <a:endParaRPr lang="en-US" sz="2200" spc="220" dirty="0" err="1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/>
          <p:cNvSpPr/>
          <p:nvPr/>
        </p:nvSpPr>
        <p:spPr>
          <a:xfrm>
            <a:off x="2942193" y="4921662"/>
            <a:ext cx="8366121" cy="1836043"/>
          </a:xfrm>
          <a:custGeom>
            <a:avLst/>
            <a:gdLst/>
            <a:ahLst/>
            <a:cxnLst/>
            <a:rect l="l" t="t" r="r" b="b"/>
            <a:pathLst>
              <a:path w="8366121" h="1836043">
                <a:moveTo>
                  <a:pt x="0" y="0"/>
                </a:moveTo>
                <a:lnTo>
                  <a:pt x="8366121" y="0"/>
                </a:lnTo>
                <a:lnTo>
                  <a:pt x="8366121" y="1836044"/>
                </a:lnTo>
                <a:lnTo>
                  <a:pt x="0" y="1836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816673" y="2351499"/>
            <a:ext cx="12617161" cy="1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26"/>
              </a:lnSpc>
            </a:pPr>
            <a:r>
              <a:rPr lang="en-US" sz="3447" spc="344">
                <a:solidFill>
                  <a:srgbClr val="000000"/>
                </a:solidFill>
                <a:latin typeface="Lato"/>
              </a:rPr>
              <a:t>Podemos ver na Figura 4 que a altura de Row é o dobro da altura de Text, conforme foi definido pela propriedade heightFactor.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97260" y="7234175"/>
            <a:ext cx="8055987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Figura 04 - HeightFactor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Fonte: &lt;https://www.devmedia.com.br/flutter-criando-layouts-com-center-column-e-row/40743&gt;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Center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2343851" y="1635964"/>
            <a:ext cx="3705064" cy="6709170"/>
          </a:xfrm>
          <a:custGeom>
            <a:avLst/>
            <a:gdLst/>
            <a:ahLst/>
            <a:cxnLst/>
            <a:rect l="l" t="t" r="r" b="b"/>
            <a:pathLst>
              <a:path w="3705064" h="6709170">
                <a:moveTo>
                  <a:pt x="0" y="0"/>
                </a:moveTo>
                <a:lnTo>
                  <a:pt x="3705064" y="0"/>
                </a:lnTo>
                <a:lnTo>
                  <a:pt x="3705064" y="6709170"/>
                </a:lnTo>
                <a:lnTo>
                  <a:pt x="0" y="6709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Column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1455" y="1641475"/>
            <a:ext cx="9590558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60"/>
              </a:lnSpc>
            </a:pPr>
            <a:r>
              <a:rPr lang="en-US" sz="3400" spc="340">
                <a:solidFill>
                  <a:srgbClr val="000000"/>
                </a:solidFill>
                <a:latin typeface="Lato"/>
              </a:rPr>
              <a:t>Com esse Widget alinhamos os Widgets na tela do app no sentido vertical, como se fizessem parte de uma coluna.</a:t>
            </a:r>
          </a:p>
          <a:p>
            <a:pPr algn="just">
              <a:lnSpc>
                <a:spcPts val="4760"/>
              </a:lnSpc>
            </a:pPr>
            <a:r>
              <a:rPr lang="en-US" sz="3400" spc="340">
                <a:solidFill>
                  <a:srgbClr val="000000"/>
                </a:solidFill>
                <a:latin typeface="Lato"/>
              </a:rPr>
              <a:t>Para customizar esse alinhamento utilizamos as seguintes propriedades:</a:t>
            </a:r>
          </a:p>
          <a:p>
            <a:pPr marL="734061" lvl="1" indent="-367031" algn="just">
              <a:lnSpc>
                <a:spcPts val="4760"/>
              </a:lnSpc>
              <a:buFont typeface="Arial"/>
              <a:buChar char="•"/>
            </a:pPr>
            <a:r>
              <a:rPr lang="en-US" sz="3400" spc="340">
                <a:solidFill>
                  <a:srgbClr val="000000"/>
                </a:solidFill>
                <a:latin typeface="Lato"/>
              </a:rPr>
              <a:t>mainAxisAlignment: que alinha os filhos no eixo principal.</a:t>
            </a:r>
          </a:p>
          <a:p>
            <a:pPr marL="734061" lvl="1" indent="-367031" algn="just">
              <a:lnSpc>
                <a:spcPts val="4760"/>
              </a:lnSpc>
              <a:buFont typeface="Arial"/>
              <a:buChar char="•"/>
            </a:pPr>
            <a:r>
              <a:rPr lang="en-US" sz="3400" spc="340">
                <a:solidFill>
                  <a:srgbClr val="000000"/>
                </a:solidFill>
                <a:latin typeface="Lato"/>
              </a:rPr>
              <a:t>crossAxisAlignment: que alinha os filhos no eixo transversal</a:t>
            </a:r>
          </a:p>
          <a:p>
            <a:pPr algn="just">
              <a:lnSpc>
                <a:spcPts val="4760"/>
              </a:lnSpc>
            </a:pPr>
            <a:r>
              <a:rPr lang="en-US" sz="3400" spc="340">
                <a:solidFill>
                  <a:srgbClr val="000000"/>
                </a:solidFill>
                <a:latin typeface="Lato"/>
              </a:rPr>
              <a:t>Em um Widget Column o eixo principal é vertical e o eixo transversal é horizontal.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32013" y="8001711"/>
            <a:ext cx="8055987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Figura 05 - Layout column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Fonte: &lt;https://www.devmedia.com.br/flutter-criando-layouts-com-center-column-e-row/40743&gt;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028700" y="4774532"/>
            <a:ext cx="13449758" cy="1617514"/>
          </a:xfrm>
          <a:custGeom>
            <a:avLst/>
            <a:gdLst/>
            <a:ahLst/>
            <a:cxnLst/>
            <a:rect l="l" t="t" r="r" b="b"/>
            <a:pathLst>
              <a:path w="13449758" h="1617514">
                <a:moveTo>
                  <a:pt x="0" y="0"/>
                </a:moveTo>
                <a:lnTo>
                  <a:pt x="13449758" y="0"/>
                </a:lnTo>
                <a:lnTo>
                  <a:pt x="13449758" y="1617514"/>
                </a:lnTo>
                <a:lnTo>
                  <a:pt x="0" y="1617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460" t="-263700" r="-61006" b="-5739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028700" y="6873797"/>
            <a:ext cx="13449758" cy="2748211"/>
          </a:xfrm>
          <a:custGeom>
            <a:avLst/>
            <a:gdLst/>
            <a:ahLst/>
            <a:cxnLst/>
            <a:rect l="l" t="t" r="r" b="b"/>
            <a:pathLst>
              <a:path w="13449758" h="2748211">
                <a:moveTo>
                  <a:pt x="0" y="0"/>
                </a:moveTo>
                <a:lnTo>
                  <a:pt x="13449758" y="0"/>
                </a:lnTo>
                <a:lnTo>
                  <a:pt x="13449758" y="2748211"/>
                </a:lnTo>
                <a:lnTo>
                  <a:pt x="0" y="27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992" t="-287621" r="-61940" b="-16827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Column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578814"/>
            <a:ext cx="16230600" cy="3187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Criação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de layout com Column e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três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widgets images,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disponível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layoutColumn.dart</a:t>
            </a:r>
            <a:endParaRPr lang="en-US" sz="2600" spc="260" dirty="0" err="1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561340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spc="260" dirty="0">
                <a:solidFill>
                  <a:srgbClr val="000000"/>
                </a:solidFill>
                <a:latin typeface="Lato"/>
              </a:rPr>
              <a:t>Para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utilizarmos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imagens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projetos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Flutter,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conforme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exemplo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acima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temos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que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criar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diretório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chamado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images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na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raiz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do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projeto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copiar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ele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as </a:t>
            </a:r>
            <a:r>
              <a:rPr lang="en-US" sz="2600" spc="260" dirty="0">
                <a:solidFill>
                  <a:srgbClr val="000000"/>
                </a:solidFill>
                <a:latin typeface="Lato Bold"/>
              </a:rPr>
              <a:t>imagens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que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queremos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usar, para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esse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projeto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 utilize a pasta images.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Também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precisamos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alterar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arquivo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 Bold"/>
              </a:rPr>
              <a:t>pubspec.yaml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no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diretório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raiz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.</a:t>
            </a:r>
            <a:endParaRPr lang="en-US" sz="2600" spc="26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algn="just">
              <a:lnSpc>
                <a:spcPts val="3640"/>
              </a:lnSpc>
            </a:pPr>
            <a:endParaRPr lang="en-US" sz="2600" spc="260">
              <a:solidFill>
                <a:srgbClr val="000000"/>
              </a:solidFill>
              <a:latin typeface="Lato"/>
            </a:endParaRPr>
          </a:p>
          <a:p>
            <a:pPr algn="just">
              <a:lnSpc>
                <a:spcPts val="3640"/>
              </a:lnSpc>
            </a:pPr>
            <a:r>
              <a:rPr lang="en-US" sz="2600" spc="260" dirty="0">
                <a:solidFill>
                  <a:srgbClr val="000000"/>
                </a:solidFill>
                <a:latin typeface="Lato"/>
              </a:rPr>
              <a:t>Para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isso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, abra o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arquivo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e localize o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seguinte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trecho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código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dentro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600" spc="260" dirty="0" err="1">
                <a:solidFill>
                  <a:srgbClr val="000000"/>
                </a:solidFill>
                <a:latin typeface="Lato"/>
              </a:rPr>
              <a:t>dele</a:t>
            </a:r>
            <a:r>
              <a:rPr lang="en-US" sz="2600" spc="260" dirty="0">
                <a:solidFill>
                  <a:srgbClr val="000000"/>
                </a:solidFill>
                <a:latin typeface="Lato"/>
              </a:rPr>
              <a:t>:</a:t>
            </a:r>
            <a:endParaRPr lang="en-US" sz="2600" spc="26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6397257"/>
            <a:ext cx="16230600" cy="448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260">
                <a:solidFill>
                  <a:srgbClr val="000000"/>
                </a:solidFill>
                <a:latin typeface="Lato"/>
              </a:rPr>
              <a:t>Altere para o seguinte: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/>
          <p:cNvSpPr/>
          <p:nvPr/>
        </p:nvSpPr>
        <p:spPr>
          <a:xfrm>
            <a:off x="9558715" y="2393303"/>
            <a:ext cx="3619720" cy="6461118"/>
          </a:xfrm>
          <a:custGeom>
            <a:avLst/>
            <a:gdLst/>
            <a:ahLst/>
            <a:cxnLst/>
            <a:rect l="l" t="t" r="r" b="b"/>
            <a:pathLst>
              <a:path w="3619720" h="6461118">
                <a:moveTo>
                  <a:pt x="0" y="0"/>
                </a:moveTo>
                <a:lnTo>
                  <a:pt x="3619720" y="0"/>
                </a:lnTo>
                <a:lnTo>
                  <a:pt x="3619720" y="6461118"/>
                </a:lnTo>
                <a:lnTo>
                  <a:pt x="0" y="6461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28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028700" y="2540447"/>
            <a:ext cx="7225298" cy="1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26"/>
              </a:lnSpc>
            </a:pPr>
            <a:r>
              <a:rPr lang="en-US" sz="3447" spc="344">
                <a:solidFill>
                  <a:srgbClr val="000000"/>
                </a:solidFill>
                <a:latin typeface="Lato"/>
              </a:rPr>
              <a:t>Após executar o app, o resultado deve se parecer com isso: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Column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84451" y="9075419"/>
            <a:ext cx="496824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Figura 06 - Execução column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2364051" y="1635964"/>
            <a:ext cx="3673123" cy="6651331"/>
          </a:xfrm>
          <a:custGeom>
            <a:avLst/>
            <a:gdLst/>
            <a:ahLst/>
            <a:cxnLst/>
            <a:rect l="l" t="t" r="r" b="b"/>
            <a:pathLst>
              <a:path w="3673123" h="6651331">
                <a:moveTo>
                  <a:pt x="0" y="0"/>
                </a:moveTo>
                <a:lnTo>
                  <a:pt x="3673123" y="0"/>
                </a:lnTo>
                <a:lnTo>
                  <a:pt x="3673123" y="6651331"/>
                </a:lnTo>
                <a:lnTo>
                  <a:pt x="0" y="6651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7697" y="2016125"/>
            <a:ext cx="9352982" cy="61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Usamos esse Widget para alinhamento horizontal, utilizando as seguintes propriedades: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mainAxisAlignment: alinha os filhos no eixo principal.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crossAxisAlignment: alinha os filhos no eixo transversal.</a:t>
            </a:r>
          </a:p>
          <a:p>
            <a:pPr algn="just">
              <a:lnSpc>
                <a:spcPts val="4900"/>
              </a:lnSpc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Em um Widget Row o eixo principal é horizontal e o eixo transversal é vertical.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70680" y="8120840"/>
            <a:ext cx="8317320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Figura 07 - Layout row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Fonte: &lt;https://www.devmedia.com.br/flutter-criando-layouts-com-center-column-e-row/40743&gt;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/>
          <p:cNvSpPr/>
          <p:nvPr/>
        </p:nvSpPr>
        <p:spPr>
          <a:xfrm>
            <a:off x="9875533" y="1932320"/>
            <a:ext cx="3542323" cy="6422359"/>
          </a:xfrm>
          <a:custGeom>
            <a:avLst/>
            <a:gdLst/>
            <a:ahLst/>
            <a:cxnLst/>
            <a:rect l="l" t="t" r="r" b="b"/>
            <a:pathLst>
              <a:path w="3542323" h="6422359">
                <a:moveTo>
                  <a:pt x="0" y="0"/>
                </a:moveTo>
                <a:lnTo>
                  <a:pt x="3542323" y="0"/>
                </a:lnTo>
                <a:lnTo>
                  <a:pt x="3542323" y="6422360"/>
                </a:lnTo>
                <a:lnTo>
                  <a:pt x="0" y="6422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2" t="-2219" r="-268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121376" y="3085206"/>
            <a:ext cx="7590137" cy="3016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826"/>
              </a:lnSpc>
            </a:pPr>
            <a:r>
              <a:rPr lang="en-US" sz="3400" spc="344" dirty="0">
                <a:solidFill>
                  <a:srgbClr val="000000"/>
                </a:solidFill>
                <a:latin typeface="Lato"/>
              </a:rPr>
              <a:t>No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exemplo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disponível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 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layoutRow.dart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usamos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Row para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exibir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três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imagens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tela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do app,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ao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lado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 da </a:t>
            </a:r>
            <a:r>
              <a:rPr lang="en-US" sz="3400" spc="344" dirty="0" err="1">
                <a:solidFill>
                  <a:srgbClr val="000000"/>
                </a:solidFill>
                <a:latin typeface="Lato"/>
              </a:rPr>
              <a:t>outra</a:t>
            </a:r>
            <a:r>
              <a:rPr lang="en-US" sz="3400" spc="344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2571" y="8547423"/>
            <a:ext cx="496824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Figura 08 - Execução row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0892491" y="2872674"/>
            <a:ext cx="6480567" cy="3867265"/>
          </a:xfrm>
          <a:custGeom>
            <a:avLst/>
            <a:gdLst/>
            <a:ahLst/>
            <a:cxnLst/>
            <a:rect l="l" t="t" r="r" b="b"/>
            <a:pathLst>
              <a:path w="6480567" h="3867265">
                <a:moveTo>
                  <a:pt x="0" y="0"/>
                </a:moveTo>
                <a:lnTo>
                  <a:pt x="6480568" y="0"/>
                </a:lnTo>
                <a:lnTo>
                  <a:pt x="6480568" y="3867265"/>
                </a:lnTo>
                <a:lnTo>
                  <a:pt x="0" y="386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Container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1455" y="1631950"/>
            <a:ext cx="9352982" cy="679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A classe Container é um widget de conveniência que combina pintura, posicionamento e dimensionamento comuns de widgets.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Uma classe Container pode ser usada para armazenar um ou mais widgets e posicioná-los na tela de acordo com nossa conveniência.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Basicamente, um contêiner é como uma caixa para armazenar o conteúdo.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08445" y="7142006"/>
            <a:ext cx="8055987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Figura 09 - Container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</a:rPr>
              <a:t>Fonte: &lt;https://www.darttutorial.org/flutter-tutorial/flutter-container/&gt;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6673" y="1617218"/>
            <a:ext cx="16442627" cy="693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sz="2799" spc="139">
                <a:solidFill>
                  <a:srgbClr val="000000"/>
                </a:solidFill>
                <a:latin typeface="Poppins"/>
              </a:rPr>
              <a:t>DIAS, R.</a:t>
            </a:r>
            <a:r>
              <a:rPr lang="en-US" sz="2799" spc="139">
                <a:solidFill>
                  <a:srgbClr val="000000"/>
                </a:solidFill>
                <a:latin typeface="Poppins Bold"/>
              </a:rPr>
              <a:t> Flutter: Criando layouts com Center, Column e Row.</a:t>
            </a:r>
            <a:r>
              <a:rPr lang="en-US" sz="2799" spc="139">
                <a:solidFill>
                  <a:srgbClr val="000000"/>
                </a:solidFill>
                <a:latin typeface="Poppins"/>
              </a:rPr>
              <a:t> Disponível em: &lt;https://www.devmedia.com.br/flutter-criando-layouts-com-center-column-e-row/40743&gt;. Acesso em: 7 mar. 2024.</a:t>
            </a:r>
          </a:p>
          <a:p>
            <a:pPr algn="just">
              <a:lnSpc>
                <a:spcPts val="4227"/>
              </a:lnSpc>
            </a:pPr>
            <a:endParaRPr lang="en-US" sz="2799" spc="139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227"/>
              </a:lnSpc>
            </a:pPr>
            <a:r>
              <a:rPr lang="en-US" sz="2799" spc="139">
                <a:solidFill>
                  <a:srgbClr val="000000"/>
                </a:solidFill>
                <a:latin typeface="Poppins Bold"/>
              </a:rPr>
              <a:t>Classe de contêiner em Flutter – Acervo Lima.</a:t>
            </a:r>
            <a:r>
              <a:rPr lang="en-US" sz="2799" spc="139">
                <a:solidFill>
                  <a:srgbClr val="000000"/>
                </a:solidFill>
                <a:latin typeface="Poppins"/>
              </a:rPr>
              <a:t> Disponível em: &lt;https://acervolima.com/classe-de-conteiner-em-flutter/&gt;. Acesso em: 7 mar. 2024.</a:t>
            </a:r>
          </a:p>
          <a:p>
            <a:pPr algn="just">
              <a:lnSpc>
                <a:spcPts val="4227"/>
              </a:lnSpc>
            </a:pPr>
            <a:endParaRPr lang="en-US" sz="2799" spc="139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227"/>
              </a:lnSpc>
            </a:pPr>
            <a:r>
              <a:rPr lang="en-US" sz="2799" spc="139">
                <a:solidFill>
                  <a:srgbClr val="000000"/>
                </a:solidFill>
                <a:latin typeface="Poppins Bold"/>
              </a:rPr>
              <a:t>Building user interfaces with Flutter.</a:t>
            </a:r>
            <a:r>
              <a:rPr lang="en-US" sz="2799" spc="139">
                <a:solidFill>
                  <a:srgbClr val="000000"/>
                </a:solidFill>
                <a:latin typeface="Poppins"/>
              </a:rPr>
              <a:t> Disponível em: &lt;https://docs.flutter.dev/ui&gt;. Acesso em: 7 mar. 2024.</a:t>
            </a:r>
          </a:p>
          <a:p>
            <a:pPr algn="just">
              <a:lnSpc>
                <a:spcPts val="4227"/>
              </a:lnSpc>
            </a:pPr>
            <a:endParaRPr lang="en-US" sz="2799" spc="139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227"/>
              </a:lnSpc>
            </a:pPr>
            <a:r>
              <a:rPr lang="en-US" sz="2799" spc="139">
                <a:solidFill>
                  <a:srgbClr val="000000"/>
                </a:solidFill>
                <a:latin typeface="Poppins Bold"/>
              </a:rPr>
              <a:t>Flutter Container.</a:t>
            </a:r>
            <a:r>
              <a:rPr lang="en-US" sz="2799" spc="139">
                <a:solidFill>
                  <a:srgbClr val="000000"/>
                </a:solidFill>
                <a:latin typeface="Poppins"/>
              </a:rPr>
              <a:t> Disponível em: &lt;https://www.darttutorial.org/flutter-tutorial/flutter-container/&gt;. Acesso em: 8 mar. 2024.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</Words>
  <Application>Microsoft Office PowerPoint</Application>
  <PresentationFormat>Personalizar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Poppins Bold</vt:lpstr>
      <vt:lpstr>Lato</vt:lpstr>
      <vt:lpstr>Poppins</vt:lpstr>
      <vt:lpstr>Poppins Ultra-Bold</vt:lpstr>
      <vt:lpstr>Calibri</vt:lpstr>
      <vt:lpstr>Lato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</dc:title>
  <cp:lastModifiedBy>Office</cp:lastModifiedBy>
  <cp:revision>38</cp:revision>
  <dcterms:created xsi:type="dcterms:W3CDTF">2006-08-16T00:00:00Z</dcterms:created>
  <dcterms:modified xsi:type="dcterms:W3CDTF">2025-11-25T01:48:51Z</dcterms:modified>
  <dc:identifier>DAF-XfFka0w</dc:identifier>
</cp:coreProperties>
</file>