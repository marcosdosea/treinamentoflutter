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76" r:id="rId5"/>
    <p:sldId id="277" r:id="rId6"/>
    <p:sldId id="278" r:id="rId7"/>
    <p:sldId id="284" r:id="rId8"/>
    <p:sldId id="279" r:id="rId9"/>
    <p:sldId id="281" r:id="rId10"/>
    <p:sldId id="282" r:id="rId11"/>
    <p:sldId id="283" r:id="rId12"/>
    <p:sldId id="285" r:id="rId13"/>
    <p:sldId id="280" r:id="rId14"/>
  </p:sldIdLst>
  <p:sldSz cx="18288000" cy="10287000"/>
  <p:notesSz cx="6858000" cy="9144000"/>
  <p:embeddedFontLst>
    <p:embeddedFont>
      <p:font typeface="Lato" panose="020F0502020204030203" pitchFamily="34" charset="0"/>
      <p:regular r:id="rId15"/>
      <p:bold r:id="rId16"/>
    </p:embeddedFont>
    <p:embeddedFont>
      <p:font typeface="Lato Bold" panose="020F0502020204030203" charset="0"/>
      <p:regular r:id="rId17"/>
    </p:embeddedFont>
    <p:embeddedFont>
      <p:font typeface="Poppins Bold" panose="020B0604020202020204" charset="0"/>
      <p:regular r:id="rId18"/>
    </p:embeddedFont>
    <p:embeddedFont>
      <p:font typeface="Poppins Ultra-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98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flutter.dev/cookbook/navigation/navigation-basics" TargetMode="External"/><Relationship Id="rId2" Type="http://schemas.openxmlformats.org/officeDocument/2006/relationships/hyperlink" Target="https://cursa.app/en/page/navegacao-e-roteamento-em-flutter-navegacao-entre-telas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700000">
            <a:off x="15004959" y="1860459"/>
            <a:ext cx="6566081" cy="6566081"/>
            <a:chOff x="0" y="0"/>
            <a:chExt cx="1913890" cy="1913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2700000">
            <a:off x="15361560" y="2217060"/>
            <a:ext cx="5852880" cy="5852880"/>
            <a:chOff x="0" y="0"/>
            <a:chExt cx="1913890" cy="1913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 rot="2700000">
            <a:off x="11951024" y="8497790"/>
            <a:ext cx="5218171" cy="6164339"/>
            <a:chOff x="0" y="0"/>
            <a:chExt cx="1620126" cy="19138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20126" cy="1913890"/>
            </a:xfrm>
            <a:custGeom>
              <a:avLst/>
              <a:gdLst/>
              <a:ahLst/>
              <a:cxnLst/>
              <a:rect l="l" t="t" r="r" b="b"/>
              <a:pathLst>
                <a:path w="1620126" h="1913890">
                  <a:moveTo>
                    <a:pt x="0" y="0"/>
                  </a:moveTo>
                  <a:lnTo>
                    <a:pt x="0" y="1913890"/>
                  </a:lnTo>
                  <a:lnTo>
                    <a:pt x="1620126" y="1913890"/>
                  </a:lnTo>
                  <a:lnTo>
                    <a:pt x="1620126" y="0"/>
                  </a:lnTo>
                  <a:lnTo>
                    <a:pt x="0" y="0"/>
                  </a:lnTo>
                  <a:close/>
                  <a:moveTo>
                    <a:pt x="1559166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559166" y="59690"/>
                  </a:lnTo>
                  <a:lnTo>
                    <a:pt x="1559166" y="185293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14372" y="3904237"/>
            <a:ext cx="13335015" cy="1427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0"/>
              </a:lnSpc>
            </a:pPr>
            <a:r>
              <a:rPr lang="pt-BR" sz="6000" spc="600" dirty="0">
                <a:solidFill>
                  <a:srgbClr val="2B4A9D"/>
                </a:solidFill>
                <a:latin typeface="Poppins Bold"/>
              </a:rPr>
              <a:t>Navegação entre Telas</a:t>
            </a:r>
            <a:endParaRPr lang="en-US" sz="6000" spc="600" dirty="0">
              <a:solidFill>
                <a:srgbClr val="2B4A9D"/>
              </a:solidFill>
              <a:latin typeface="Poppi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14372" y="7555634"/>
            <a:ext cx="11682427" cy="30803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Apresentado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por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:</a:t>
            </a:r>
          </a:p>
          <a:p>
            <a:pPr>
              <a:lnSpc>
                <a:spcPts val="4900"/>
              </a:lnSpc>
            </a:pPr>
            <a:r>
              <a:rPr lang="en-US" sz="3500" spc="350">
                <a:solidFill>
                  <a:srgbClr val="000000"/>
                </a:solidFill>
                <a:latin typeface="Lato"/>
              </a:rPr>
              <a:t>Paulo Vitor</a:t>
            </a:r>
            <a:endParaRPr lang="en-US" sz="3500" spc="350" dirty="0">
              <a:solidFill>
                <a:srgbClr val="000000"/>
              </a:solidFill>
              <a:latin typeface="Lato"/>
            </a:endParaRPr>
          </a:p>
          <a:p>
            <a:pPr>
              <a:lnSpc>
                <a:spcPts val="4900"/>
              </a:lnSpc>
            </a:pP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Talysson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Vasconcelos</a:t>
            </a:r>
          </a:p>
          <a:p>
            <a:pPr>
              <a:lnSpc>
                <a:spcPts val="4900"/>
              </a:lnSpc>
            </a:pPr>
            <a:r>
              <a:rPr lang="en-US" sz="3500" spc="350" dirty="0">
                <a:solidFill>
                  <a:srgbClr val="000000"/>
                </a:solidFill>
                <a:latin typeface="Lato"/>
              </a:rPr>
              <a:t>João Hungria</a:t>
            </a:r>
          </a:p>
          <a:p>
            <a:pPr>
              <a:lnSpc>
                <a:spcPts val="4900"/>
              </a:lnSpc>
            </a:pPr>
            <a:endParaRPr lang="en-US" sz="3500" spc="350" dirty="0">
              <a:solidFill>
                <a:srgbClr val="000000"/>
              </a:solidFill>
              <a:latin typeface="Lato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-4134433" y="1004889"/>
            <a:ext cx="12993464" cy="2102579"/>
          </a:xfrm>
          <a:custGeom>
            <a:avLst/>
            <a:gdLst/>
            <a:ahLst/>
            <a:cxnLst/>
            <a:rect l="l" t="t" r="r" b="b"/>
            <a:pathLst>
              <a:path w="12993464" h="2102579">
                <a:moveTo>
                  <a:pt x="0" y="0"/>
                </a:moveTo>
                <a:lnTo>
                  <a:pt x="12993465" y="0"/>
                </a:lnTo>
                <a:lnTo>
                  <a:pt x="12993465" y="2102578"/>
                </a:lnTo>
                <a:lnTo>
                  <a:pt x="0" y="21025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11" name="Group 11"/>
          <p:cNvGrpSpPr/>
          <p:nvPr/>
        </p:nvGrpSpPr>
        <p:grpSpPr>
          <a:xfrm>
            <a:off x="0" y="0"/>
            <a:ext cx="541602" cy="10287000"/>
            <a:chOff x="0" y="0"/>
            <a:chExt cx="157867" cy="299846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7867" cy="2998468"/>
            </a:xfrm>
            <a:custGeom>
              <a:avLst/>
              <a:gdLst/>
              <a:ahLst/>
              <a:cxnLst/>
              <a:rect l="l" t="t" r="r" b="b"/>
              <a:pathLst>
                <a:path w="157867" h="2998468">
                  <a:moveTo>
                    <a:pt x="0" y="0"/>
                  </a:moveTo>
                  <a:lnTo>
                    <a:pt x="157867" y="0"/>
                  </a:lnTo>
                  <a:lnTo>
                    <a:pt x="157867" y="2998468"/>
                  </a:lnTo>
                  <a:lnTo>
                    <a:pt x="0" y="2998468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6816" y="0"/>
            <a:ext cx="452408" cy="10287000"/>
            <a:chOff x="0" y="0"/>
            <a:chExt cx="165040" cy="3752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5040" cy="3752726"/>
            </a:xfrm>
            <a:custGeom>
              <a:avLst/>
              <a:gdLst/>
              <a:ahLst/>
              <a:cxnLst/>
              <a:rect l="l" t="t" r="r" b="b"/>
              <a:pathLst>
                <a:path w="165040" h="3752726">
                  <a:moveTo>
                    <a:pt x="0" y="0"/>
                  </a:moveTo>
                  <a:lnTo>
                    <a:pt x="165040" y="0"/>
                  </a:lnTo>
                  <a:lnTo>
                    <a:pt x="165040" y="3752726"/>
                  </a:lnTo>
                  <a:lnTo>
                    <a:pt x="0" y="3752726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-2700000">
            <a:off x="12190278" y="55428"/>
            <a:ext cx="10176144" cy="10176144"/>
            <a:chOff x="0" y="0"/>
            <a:chExt cx="1913890" cy="1913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 rot="2700000">
            <a:off x="12628620" y="445887"/>
            <a:ext cx="9395227" cy="9395227"/>
            <a:chOff x="0" y="0"/>
            <a:chExt cx="1913890" cy="19138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/>
          <p:nvPr/>
        </p:nvGrpSpPr>
        <p:grpSpPr>
          <a:xfrm rot="2700000">
            <a:off x="11524419" y="8043030"/>
            <a:ext cx="6164339" cy="6164339"/>
            <a:chOff x="0" y="0"/>
            <a:chExt cx="1913890" cy="19138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10"/>
          <p:cNvGrpSpPr/>
          <p:nvPr/>
        </p:nvGrpSpPr>
        <p:grpSpPr>
          <a:xfrm rot="2700000">
            <a:off x="11524419" y="-3920369"/>
            <a:ext cx="6164339" cy="6164339"/>
            <a:chOff x="0" y="0"/>
            <a:chExt cx="1913890" cy="191389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2" name="Group 12"/>
          <p:cNvGrpSpPr/>
          <p:nvPr/>
        </p:nvGrpSpPr>
        <p:grpSpPr>
          <a:xfrm rot="-5400000">
            <a:off x="4980926" y="-2587876"/>
            <a:ext cx="1629197" cy="7951652"/>
            <a:chOff x="0" y="0"/>
            <a:chExt cx="2354580" cy="1149204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53310" cy="11492046"/>
            </a:xfrm>
            <a:custGeom>
              <a:avLst/>
              <a:gdLst/>
              <a:ahLst/>
              <a:cxnLst/>
              <a:rect l="l" t="t" r="r" b="b"/>
              <a:pathLst>
                <a:path w="2353310" h="11492046">
                  <a:moveTo>
                    <a:pt x="784860" y="11424736"/>
                  </a:moveTo>
                  <a:cubicBezTo>
                    <a:pt x="905510" y="11465376"/>
                    <a:pt x="1042670" y="11492046"/>
                    <a:pt x="1177290" y="11492046"/>
                  </a:cubicBezTo>
                  <a:cubicBezTo>
                    <a:pt x="1311910" y="11492046"/>
                    <a:pt x="1441450" y="11469186"/>
                    <a:pt x="1560830" y="11428546"/>
                  </a:cubicBezTo>
                  <a:cubicBezTo>
                    <a:pt x="1563370" y="11427276"/>
                    <a:pt x="1565910" y="11427276"/>
                    <a:pt x="1568450" y="11426006"/>
                  </a:cubicBezTo>
                  <a:cubicBezTo>
                    <a:pt x="2016760" y="11263446"/>
                    <a:pt x="2346960" y="10834186"/>
                    <a:pt x="2353310" y="10306003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10298100"/>
                  </a:lnTo>
                  <a:cubicBezTo>
                    <a:pt x="6350" y="10836726"/>
                    <a:pt x="331470" y="11265986"/>
                    <a:pt x="784860" y="11424736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123218" y="878380"/>
            <a:ext cx="7020782" cy="895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FFFFFF"/>
                </a:solidFill>
                <a:latin typeface="Poppins Ultra-Bold"/>
              </a:rPr>
              <a:t>AGENDA</a:t>
            </a:r>
          </a:p>
        </p:txBody>
      </p:sp>
      <p:grpSp>
        <p:nvGrpSpPr>
          <p:cNvPr id="15" name="Group 15"/>
          <p:cNvGrpSpPr/>
          <p:nvPr/>
        </p:nvGrpSpPr>
        <p:grpSpPr>
          <a:xfrm rot="-5400000">
            <a:off x="568482" y="2554884"/>
            <a:ext cx="829509" cy="1966473"/>
            <a:chOff x="0" y="0"/>
            <a:chExt cx="2354580" cy="558188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2123856" y="3254901"/>
            <a:ext cx="7343333" cy="566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500" spc="350" dirty="0" err="1">
                <a:solidFill>
                  <a:srgbClr val="2B4A9D"/>
                </a:solidFill>
                <a:latin typeface="Lato Bold"/>
              </a:rPr>
              <a:t>Introdução</a:t>
            </a:r>
            <a:endParaRPr lang="en-US" sz="3500" spc="350" dirty="0">
              <a:solidFill>
                <a:srgbClr val="2B4A9D"/>
              </a:solidFill>
              <a:latin typeface="Lato Bold"/>
            </a:endParaRPr>
          </a:p>
        </p:txBody>
      </p:sp>
      <p:grpSp>
        <p:nvGrpSpPr>
          <p:cNvPr id="18" name="Group 15"/>
          <p:cNvGrpSpPr/>
          <p:nvPr/>
        </p:nvGrpSpPr>
        <p:grpSpPr>
          <a:xfrm rot="-5400000">
            <a:off x="568483" y="3890903"/>
            <a:ext cx="829509" cy="1966473"/>
            <a:chOff x="0" y="0"/>
            <a:chExt cx="2354580" cy="5581882"/>
          </a:xfrm>
        </p:grpSpPr>
        <p:sp>
          <p:nvSpPr>
            <p:cNvPr id="19" name="Freeform 16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0" name="TextBox 23"/>
          <p:cNvSpPr txBox="1"/>
          <p:nvPr/>
        </p:nvSpPr>
        <p:spPr>
          <a:xfrm>
            <a:off x="2123218" y="4590696"/>
            <a:ext cx="7343333" cy="566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500" spc="350" dirty="0" err="1">
                <a:solidFill>
                  <a:srgbClr val="2B4A9D"/>
                </a:solidFill>
                <a:latin typeface="Lato Bold"/>
              </a:rPr>
              <a:t>Uso</a:t>
            </a:r>
            <a:r>
              <a:rPr lang="en-US" sz="3500" spc="350" dirty="0">
                <a:solidFill>
                  <a:srgbClr val="2B4A9D"/>
                </a:solidFill>
                <a:latin typeface="Lato Bold"/>
              </a:rPr>
              <a:t> do Navigator</a:t>
            </a:r>
          </a:p>
        </p:txBody>
      </p:sp>
      <p:grpSp>
        <p:nvGrpSpPr>
          <p:cNvPr id="21" name="Group 15"/>
          <p:cNvGrpSpPr/>
          <p:nvPr/>
        </p:nvGrpSpPr>
        <p:grpSpPr>
          <a:xfrm rot="-5400000">
            <a:off x="568483" y="5227369"/>
            <a:ext cx="829509" cy="1966473"/>
            <a:chOff x="0" y="0"/>
            <a:chExt cx="2354580" cy="5581882"/>
          </a:xfrm>
        </p:grpSpPr>
        <p:sp>
          <p:nvSpPr>
            <p:cNvPr id="22" name="Freeform 16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2235088" y="5926491"/>
            <a:ext cx="7343333" cy="566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500" spc="350" dirty="0" err="1">
                <a:solidFill>
                  <a:srgbClr val="2B4A9D"/>
                </a:solidFill>
                <a:latin typeface="Lato Bold"/>
              </a:rPr>
              <a:t>Uso</a:t>
            </a:r>
            <a:r>
              <a:rPr lang="en-US" sz="3500" spc="350" dirty="0">
                <a:solidFill>
                  <a:srgbClr val="2B4A9D"/>
                </a:solidFill>
                <a:latin typeface="Lato Bold"/>
              </a:rPr>
              <a:t> de </a:t>
            </a:r>
            <a:r>
              <a:rPr lang="en-US" sz="3500" spc="350" dirty="0" err="1">
                <a:solidFill>
                  <a:srgbClr val="2B4A9D"/>
                </a:solidFill>
                <a:latin typeface="Lato Bold"/>
              </a:rPr>
              <a:t>Rotas</a:t>
            </a:r>
            <a:r>
              <a:rPr lang="en-US" sz="3500" spc="350" dirty="0">
                <a:solidFill>
                  <a:srgbClr val="2B4A9D"/>
                </a:solidFill>
                <a:latin typeface="Lato Bold"/>
              </a:rPr>
              <a:t> </a:t>
            </a:r>
            <a:r>
              <a:rPr lang="en-US" sz="3500" spc="350" dirty="0" err="1">
                <a:solidFill>
                  <a:srgbClr val="2B4A9D"/>
                </a:solidFill>
                <a:latin typeface="Lato Bold"/>
              </a:rPr>
              <a:t>Nomeadas</a:t>
            </a:r>
            <a:endParaRPr lang="en-US" sz="3500" spc="350" dirty="0">
              <a:solidFill>
                <a:srgbClr val="2B4A9D"/>
              </a:solidFill>
              <a:latin typeface="Lato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4800600" y="571500"/>
            <a:ext cx="8115300" cy="807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Introdução</a:t>
            </a:r>
            <a:endParaRPr lang="en-US" sz="5000" spc="300" dirty="0">
              <a:solidFill>
                <a:srgbClr val="2B4A9D"/>
              </a:solidFill>
              <a:latin typeface="Poppins Ultra-Bold"/>
            </a:endParaRP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990600" y="2933700"/>
            <a:ext cx="16144008" cy="4308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Flutter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fornece um sistema completo para navegar entre telas e lidar com links diretos;</a:t>
            </a:r>
          </a:p>
          <a:p>
            <a:pPr algn="just">
              <a:lnSpc>
                <a:spcPts val="4759"/>
              </a:lnSpc>
            </a:pPr>
            <a:endParaRPr lang="pt-BR" sz="3600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Aplicativos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pequenos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sem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links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diretos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complexos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podem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usar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o Navigator;</a:t>
            </a:r>
          </a:p>
          <a:p>
            <a:pPr algn="just">
              <a:lnSpc>
                <a:spcPts val="4759"/>
              </a:lnSpc>
            </a:pPr>
            <a:endParaRPr lang="en-US" sz="3399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Além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disso,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há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uso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das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rotas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nomeadas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4800600" y="571500"/>
            <a:ext cx="8115300" cy="807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O </a:t>
            </a: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uso</a:t>
            </a: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 do Navigator</a:t>
            </a: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990600" y="2933700"/>
            <a:ext cx="16144008" cy="4924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widget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Navigator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exibe telas como uma pilha, usando animações de transições corretas para a plataforma de destino;</a:t>
            </a:r>
          </a:p>
          <a:p>
            <a:pPr algn="just">
              <a:lnSpc>
                <a:spcPts val="4759"/>
              </a:lnSpc>
            </a:pPr>
            <a:endParaRPr lang="pt-BR" sz="3600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Navigator é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responsável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por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empilhar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desempilhar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telas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dentro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aplicativo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;</a:t>
            </a:r>
          </a:p>
          <a:p>
            <a:pPr algn="just">
              <a:lnSpc>
                <a:spcPts val="4759"/>
              </a:lnSpc>
            </a:pPr>
            <a:endParaRPr lang="en-US" sz="3399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Navigator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utiliza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dois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métodos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: 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Navigator.push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e 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Navigator.pop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13141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4800600" y="53157"/>
            <a:ext cx="8115300" cy="1615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O </a:t>
            </a: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uso</a:t>
            </a: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 do </a:t>
            </a: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Navigator.push</a:t>
            </a:r>
            <a:endParaRPr lang="en-US" sz="5000" spc="300" dirty="0">
              <a:solidFill>
                <a:srgbClr val="2B4A9D"/>
              </a:solidFill>
              <a:latin typeface="Poppins Ultra-Bold"/>
            </a:endParaRP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52400" y="3241476"/>
            <a:ext cx="7315200" cy="4308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método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Navigator.push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é utilizado para navegar para uma nova tela;</a:t>
            </a:r>
          </a:p>
          <a:p>
            <a:pPr algn="just">
              <a:lnSpc>
                <a:spcPts val="4759"/>
              </a:lnSpc>
            </a:pPr>
            <a:endParaRPr lang="pt-BR" sz="3600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Este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método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utiliza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dois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argumentos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: 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contexto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atual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e 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rota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para a nova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tela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;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10376583" y="7978540"/>
            <a:ext cx="507863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01 – Uso do </a:t>
            </a:r>
            <a:r>
              <a:rPr lang="pt-BR" sz="25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Navigator.push</a:t>
            </a:r>
            <a:endParaRPr lang="pt-BR" sz="25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0" y="3241476"/>
            <a:ext cx="9982200" cy="4613711"/>
          </a:xfrm>
          <a:prstGeom prst="rect">
            <a:avLst/>
          </a:prstGeom>
        </p:spPr>
      </p:pic>
      <p:cxnSp>
        <p:nvCxnSpPr>
          <p:cNvPr id="10" name="Conector de seta reta 9"/>
          <p:cNvCxnSpPr/>
          <p:nvPr/>
        </p:nvCxnSpPr>
        <p:spPr>
          <a:xfrm flipH="1">
            <a:off x="11277600" y="6286500"/>
            <a:ext cx="12954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2940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4800600" y="571500"/>
            <a:ext cx="8115300" cy="1615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O </a:t>
            </a: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uso</a:t>
            </a: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 do </a:t>
            </a: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Navigator.pop</a:t>
            </a:r>
            <a:endParaRPr lang="en-US" sz="5000" spc="300" dirty="0">
              <a:solidFill>
                <a:srgbClr val="2B4A9D"/>
              </a:solidFill>
              <a:latin typeface="Poppins Ultra-Bold"/>
            </a:endParaRP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381000" y="2628900"/>
            <a:ext cx="7315200" cy="6771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Para voltar para a tela anterior, deve-se usar o método ‘</a:t>
            </a:r>
            <a:r>
              <a:rPr lang="pt-BR" sz="3400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Navigator.pop</a:t>
            </a:r>
            <a:r>
              <a:rPr lang="pt-BR" sz="3400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’;</a:t>
            </a:r>
          </a:p>
          <a:p>
            <a:pPr algn="just">
              <a:lnSpc>
                <a:spcPts val="4759"/>
              </a:lnSpc>
            </a:pPr>
            <a:endParaRPr lang="pt-BR" sz="3400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Este método remove o </a:t>
            </a:r>
            <a:r>
              <a:rPr lang="pt-BR" sz="3400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widget</a:t>
            </a:r>
            <a:r>
              <a:rPr lang="pt-BR" sz="3400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atual da pilha e volta para o </a:t>
            </a:r>
            <a:r>
              <a:rPr lang="pt-BR" sz="3400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widget</a:t>
            </a:r>
            <a:r>
              <a:rPr lang="pt-BR" sz="3400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anterior;</a:t>
            </a:r>
          </a:p>
          <a:p>
            <a:pPr algn="just">
              <a:lnSpc>
                <a:spcPts val="4759"/>
              </a:lnSpc>
            </a:pPr>
            <a:endParaRPr lang="pt-BR" sz="3400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Um exemplo do seu uso é quando o usuário pressiona o botão de voltar.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10760149" y="8343900"/>
            <a:ext cx="494077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02 – Uso do </a:t>
            </a:r>
            <a:r>
              <a:rPr lang="pt-BR" sz="25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Navigator.pop</a:t>
            </a:r>
            <a:endParaRPr lang="pt-BR" sz="25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3968429"/>
            <a:ext cx="9544675" cy="4092026"/>
          </a:xfrm>
          <a:prstGeom prst="rect">
            <a:avLst/>
          </a:prstGeom>
        </p:spPr>
      </p:pic>
      <p:cxnSp>
        <p:nvCxnSpPr>
          <p:cNvPr id="10" name="Conector de seta reta 9"/>
          <p:cNvCxnSpPr/>
          <p:nvPr/>
        </p:nvCxnSpPr>
        <p:spPr>
          <a:xfrm flipH="1">
            <a:off x="12448540" y="6362700"/>
            <a:ext cx="12954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9830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" name="CaixaDeTexto 1"/>
          <p:cNvSpPr txBox="1"/>
          <p:nvPr/>
        </p:nvSpPr>
        <p:spPr>
          <a:xfrm>
            <a:off x="1143000" y="2247900"/>
            <a:ext cx="1661159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5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exemplo com o código-fonte utilizando o </a:t>
            </a:r>
            <a:r>
              <a:rPr lang="pt-BR" sz="35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navigator</a:t>
            </a:r>
            <a:r>
              <a:rPr lang="pt-BR" sz="35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básico encontra-se no arquivo </a:t>
            </a:r>
            <a:r>
              <a:rPr lang="pt-BR" sz="3500" b="1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navigatorBasico.dart</a:t>
            </a:r>
            <a:endParaRPr lang="pt-BR" sz="3500" b="1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3987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4800600" y="571500"/>
            <a:ext cx="8115300" cy="1615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O </a:t>
            </a: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uso</a:t>
            </a: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 de </a:t>
            </a: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Rotas</a:t>
            </a: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 </a:t>
            </a: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Nomeadas</a:t>
            </a:r>
            <a:endParaRPr lang="en-US" sz="5000" spc="300" dirty="0">
              <a:solidFill>
                <a:srgbClr val="2B4A9D"/>
              </a:solidFill>
              <a:latin typeface="Poppins Ultra-Bold"/>
            </a:endParaRP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990600" y="2933700"/>
            <a:ext cx="16144008" cy="6155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No roteamento nomeado, é definido uma tabela de rotas, com os nomes de rotas e seus respectivos </a:t>
            </a:r>
            <a:r>
              <a:rPr lang="pt-BR" sz="3400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widgets</a:t>
            </a:r>
            <a:r>
              <a:rPr lang="pt-BR" sz="3400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pt-BR" sz="3400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Então, é possível navegar para um </a:t>
            </a:r>
            <a:r>
              <a:rPr lang="pt-BR" sz="3400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widget</a:t>
            </a:r>
            <a:r>
              <a:rPr lang="pt-BR" sz="3400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usando o seu nome de rota;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pt-BR" sz="3400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É útil quando há muitas telas no aplicativo e a navegação se torna complexa;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pt-BR" sz="3400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 seguir será apresentado um exemplo do seu uso.</a:t>
            </a:r>
          </a:p>
        </p:txBody>
      </p:sp>
    </p:spTree>
    <p:extLst>
      <p:ext uri="{BB962C8B-B14F-4D97-AF65-F5344CB8AC3E}">
        <p14:creationId xmlns:p14="http://schemas.microsoft.com/office/powerpoint/2010/main" val="2116126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304800" y="2135148"/>
            <a:ext cx="8229600" cy="6771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Primeiramente, são definidas as rotas;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pt-BR" sz="3400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 propriedade “</a:t>
            </a:r>
            <a:r>
              <a:rPr lang="pt-BR" sz="3400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initialRoute</a:t>
            </a:r>
            <a:r>
              <a:rPr lang="pt-BR" sz="3400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” define com qual rota o aplicativo deve começar;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pt-BR" sz="3400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 propriedade “</a:t>
            </a:r>
            <a:r>
              <a:rPr lang="pt-BR" sz="3400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routes</a:t>
            </a:r>
            <a:r>
              <a:rPr lang="pt-BR" sz="3400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” define as rotas nomeadas disponíveis e os </a:t>
            </a:r>
            <a:r>
              <a:rPr lang="pt-BR" sz="3400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widgets</a:t>
            </a:r>
            <a:r>
              <a:rPr lang="pt-BR" sz="3400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que serão construídos ao navegar para essas rotas.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400" y="3009900"/>
            <a:ext cx="8890055" cy="5021580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11173770" y="8191500"/>
            <a:ext cx="456567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03 – Definição das rotas</a:t>
            </a:r>
          </a:p>
        </p:txBody>
      </p:sp>
    </p:spTree>
    <p:extLst>
      <p:ext uri="{BB962C8B-B14F-4D97-AF65-F5344CB8AC3E}">
        <p14:creationId xmlns:p14="http://schemas.microsoft.com/office/powerpoint/2010/main" val="3299757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28600" y="2081014"/>
            <a:ext cx="7945120" cy="6155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Serão criadas duas telas;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pt-BR" sz="3400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 primeira tela contém um botão que navega para a segunda tela;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pt-BR" sz="3400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 função “</a:t>
            </a:r>
            <a:r>
              <a:rPr lang="pt-BR" sz="3400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Navigator.pushNamed</a:t>
            </a:r>
            <a:r>
              <a:rPr lang="pt-BR" sz="3400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” aciona a navegação, indicando qual será o caminho.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1322551" y="7998018"/>
            <a:ext cx="370806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04 – Primeira Tela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2628900"/>
            <a:ext cx="9589169" cy="505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243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28600" y="2851688"/>
            <a:ext cx="8153400" cy="4308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 segunda tela contém um botão que retornar para a primeira tela;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pt-BR" sz="3400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 função “</a:t>
            </a:r>
            <a:r>
              <a:rPr lang="pt-BR" sz="3400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Navigator.pop</a:t>
            </a:r>
            <a:r>
              <a:rPr lang="pt-BR" sz="3400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” permite retornar para a tela anterior.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1555394" y="7734300"/>
            <a:ext cx="374333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05 – Segunda Tela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2476500"/>
            <a:ext cx="9440561" cy="5059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574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" name="CaixaDeTexto 6"/>
          <p:cNvSpPr txBox="1"/>
          <p:nvPr/>
        </p:nvSpPr>
        <p:spPr>
          <a:xfrm>
            <a:off x="816673" y="2247900"/>
            <a:ext cx="1661159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5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exemplo com o código-fonte utilizando rotas nomeadas encontra-se no arquivo </a:t>
            </a:r>
            <a:r>
              <a:rPr lang="pt-BR" sz="3500" b="1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rotasNomeadas.dart</a:t>
            </a:r>
            <a:endParaRPr lang="pt-BR" sz="3500" b="1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90011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4800600" y="571500"/>
            <a:ext cx="8115300" cy="7854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Referências</a:t>
            </a:r>
            <a:endParaRPr lang="en-US" sz="5000" spc="300" dirty="0">
              <a:solidFill>
                <a:srgbClr val="2B4A9D"/>
              </a:solidFill>
              <a:latin typeface="Poppins Ultra-Bold"/>
            </a:endParaRP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990600" y="2933700"/>
            <a:ext cx="16144008" cy="36625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pt-BR" sz="3400" b="1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7.2. Navegação e roteamento em </a:t>
            </a:r>
            <a:r>
              <a:rPr lang="pt-BR" sz="3400" b="1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Flutter</a:t>
            </a:r>
            <a:r>
              <a:rPr lang="pt-BR" sz="3400" b="1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: Navegação entre telas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 Disponível em: 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  <a:hlinkClick r:id="rId2"/>
              </a:rPr>
              <a:t>https://cursa.app/en/page/navegacao-e-roteamento-em-flutter-navegacao-entre-telas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 Acesso em: 4 mar. 2024.</a:t>
            </a:r>
          </a:p>
          <a:p>
            <a:endParaRPr lang="pt-BR" sz="3400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r>
              <a:rPr lang="pt-BR" sz="3400" b="1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Navigate</a:t>
            </a:r>
            <a:r>
              <a:rPr lang="pt-BR" sz="3400" b="1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pt-BR" sz="3400" b="1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to</a:t>
            </a:r>
            <a:r>
              <a:rPr lang="pt-BR" sz="3400" b="1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a new </a:t>
            </a:r>
            <a:r>
              <a:rPr lang="pt-BR" sz="3400" b="1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screen</a:t>
            </a:r>
            <a:r>
              <a:rPr lang="pt-BR" sz="3400" b="1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pt-BR" sz="3400" b="1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and</a:t>
            </a:r>
            <a:r>
              <a:rPr lang="pt-BR" sz="3400" b="1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pt-BR" sz="3400" b="1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back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 Disponível em: 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  <a:hlinkClick r:id="rId3"/>
              </a:rPr>
              <a:t>https://docs.flutter.dev/cookbook/navigation/navigation-basics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 Acesso em: 4 mar. 2024.</a:t>
            </a:r>
          </a:p>
        </p:txBody>
      </p:sp>
    </p:spTree>
    <p:extLst>
      <p:ext uri="{BB962C8B-B14F-4D97-AF65-F5344CB8AC3E}">
        <p14:creationId xmlns:p14="http://schemas.microsoft.com/office/powerpoint/2010/main" val="1617782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504</Words>
  <Application>Microsoft Office PowerPoint</Application>
  <PresentationFormat>Personalizar</PresentationFormat>
  <Paragraphs>63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20" baseType="lpstr">
      <vt:lpstr>Lato</vt:lpstr>
      <vt:lpstr>Poppins Ultra-Bold</vt:lpstr>
      <vt:lpstr>Calibri</vt:lpstr>
      <vt:lpstr>Arial</vt:lpstr>
      <vt:lpstr>Poppins Bold</vt:lpstr>
      <vt:lpstr>Lato 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de Flutter</dc:title>
  <dc:creator>natalia</dc:creator>
  <cp:lastModifiedBy>Office</cp:lastModifiedBy>
  <cp:revision>29</cp:revision>
  <dcterms:created xsi:type="dcterms:W3CDTF">2006-08-16T00:00:00Z</dcterms:created>
  <dcterms:modified xsi:type="dcterms:W3CDTF">2025-11-25T01:49:10Z</dcterms:modified>
  <dc:identifier>DAF-TiBPULQ</dc:identifier>
</cp:coreProperties>
</file>