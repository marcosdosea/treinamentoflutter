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Lato" panose="020F0502020204030203" pitchFamily="34" charset="0"/>
      <p:regular r:id="rId11"/>
    </p:embeddedFont>
    <p:embeddedFont>
      <p:font typeface="Lato Bold" panose="020F0502020204030203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Ultra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ableless/entendendo-os-tipos-de-widgets-do-flutter-de9bb9296bf6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ableless/entendendo-os-tipos-de-widgets-do-flutter-de9bb9296bf6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ui" TargetMode="External"/><Relationship Id="rId2" Type="http://schemas.openxmlformats.org/officeDocument/2006/relationships/hyperlink" Target="https://medium.com/tableless/entendendo-os-tipos-de-widgets-do-flutter-de9bb9296bf6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26559" y="4636240"/>
            <a:ext cx="12616379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en-US" sz="8000" spc="400">
                <a:solidFill>
                  <a:srgbClr val="2B4A9D"/>
                </a:solidFill>
                <a:latin typeface="Poppins Bold"/>
              </a:rPr>
              <a:t>Widgets no Flutter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6559" y="7255615"/>
            <a:ext cx="10419822" cy="308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:</a:t>
            </a:r>
          </a:p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"/>
              </a:rPr>
              <a:t>Paulo Vitor</a:t>
            </a:r>
            <a:endParaRPr lang="en-US" sz="3500" spc="350" dirty="0">
              <a:solidFill>
                <a:srgbClr val="000000"/>
              </a:solidFill>
              <a:latin typeface="Lato"/>
            </a:endParaRPr>
          </a:p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Vasconcelos</a:t>
            </a:r>
          </a:p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João Hungria</a:t>
            </a:r>
          </a:p>
          <a:p>
            <a:pPr>
              <a:lnSpc>
                <a:spcPts val="4900"/>
              </a:lnSpc>
            </a:pPr>
            <a:endParaRPr lang="en-US" sz="3500" spc="350" dirty="0">
              <a:solidFill>
                <a:srgbClr val="000000"/>
              </a:solidFill>
              <a:latin typeface="Lato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5213428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568482" y="6542700"/>
            <a:ext cx="829509" cy="1966473"/>
            <a:chOff x="0" y="0"/>
            <a:chExt cx="2354580" cy="55818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23858" y="3196808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O que é um Widget?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23218" y="4564403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Stateful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Widget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23217" y="7222947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Widgets </a:t>
            </a:r>
            <a:r>
              <a:rPr lang="en-US" sz="3500" spc="350" dirty="0" err="1">
                <a:solidFill>
                  <a:srgbClr val="2B4A9D"/>
                </a:solidFill>
                <a:latin typeface="Lato Bold"/>
              </a:rPr>
              <a:t>Básicos</a:t>
            </a: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 do Flutter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23217" y="5893675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Stateless Widget</a:t>
            </a:r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568482" y="7867509"/>
            <a:ext cx="829509" cy="1966473"/>
            <a:chOff x="0" y="0"/>
            <a:chExt cx="2354580" cy="55818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2123216" y="8547756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 dirty="0">
                <a:solidFill>
                  <a:srgbClr val="2B4A9D"/>
                </a:solidFill>
                <a:latin typeface="Lato Bold"/>
              </a:rPr>
              <a:t>Outros Widgets do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143419" y="8043030"/>
            <a:ext cx="6164339" cy="6164339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55014"/>
            <a:ext cx="913575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O QUE É UM WIDGET?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453971"/>
            <a:ext cx="9135755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Um Widget é um componente visual utilizado para a interface de um aplicativo;</a:t>
            </a:r>
          </a:p>
          <a:p>
            <a:pPr algn="just">
              <a:lnSpc>
                <a:spcPts val="4759"/>
              </a:lnSpc>
            </a:pPr>
            <a:endParaRPr lang="en-US" sz="3399" spc="339">
              <a:solidFill>
                <a:srgbClr val="000000"/>
              </a:solidFill>
              <a:latin typeface="Lato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Os Widgets podem possuir ou não um estado, sendo chamados de Stateful Widget e Stateless Widget, respectivamente.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9738947" y="2559910"/>
            <a:ext cx="8330780" cy="5489426"/>
          </a:xfrm>
          <a:custGeom>
            <a:avLst/>
            <a:gdLst/>
            <a:ahLst/>
            <a:cxnLst/>
            <a:rect l="l" t="t" r="r" b="b"/>
            <a:pathLst>
              <a:path w="8330780" h="5489426">
                <a:moveTo>
                  <a:pt x="0" y="0"/>
                </a:moveTo>
                <a:lnTo>
                  <a:pt x="8330779" y="0"/>
                </a:lnTo>
                <a:lnTo>
                  <a:pt x="8330779" y="5489426"/>
                </a:lnTo>
                <a:lnTo>
                  <a:pt x="0" y="5489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2125" r="-5128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68581" y="379832"/>
            <a:ext cx="913575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STATEFUL WIDGET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1812" y="1569289"/>
            <a:ext cx="9674163" cy="83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Os Widgets que possuem estado são denominados de Stateful Widget;</a:t>
            </a:r>
          </a:p>
          <a:p>
            <a:pPr algn="just">
              <a:lnSpc>
                <a:spcPts val="4759"/>
              </a:lnSpc>
            </a:pPr>
            <a:endParaRPr lang="en-US" sz="3399" spc="339">
              <a:solidFill>
                <a:srgbClr val="000000"/>
              </a:solidFill>
              <a:latin typeface="Lato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Durante a execução pode haver alterações naquele componente sem precisar redirecionar para outra tela;</a:t>
            </a:r>
          </a:p>
          <a:p>
            <a:pPr algn="just">
              <a:lnSpc>
                <a:spcPts val="4759"/>
              </a:lnSpc>
            </a:pPr>
            <a:endParaRPr lang="en-US" sz="3399" spc="339">
              <a:solidFill>
                <a:srgbClr val="000000"/>
              </a:solidFill>
              <a:latin typeface="Lato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No exemplo ao lado todos os componentes em amarelo são estados;</a:t>
            </a:r>
          </a:p>
          <a:p>
            <a:pPr algn="just">
              <a:lnSpc>
                <a:spcPts val="4759"/>
              </a:lnSpc>
            </a:pPr>
            <a:endParaRPr lang="en-US" sz="3399" spc="339">
              <a:solidFill>
                <a:srgbClr val="000000"/>
              </a:solidFill>
              <a:latin typeface="Lato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spc="339">
                <a:solidFill>
                  <a:srgbClr val="000000"/>
                </a:solidFill>
                <a:latin typeface="Lato"/>
              </a:rPr>
              <a:t>Caso o usuário realize alguma ação, o mesmo não será direcionado para outra página, o estado da página será atualizado.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5600" y="8001711"/>
            <a:ext cx="7772400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Figura</a:t>
            </a:r>
            <a:r>
              <a:rPr lang="en-US" sz="2300" spc="249" dirty="0">
                <a:solidFill>
                  <a:srgbClr val="000000"/>
                </a:solidFill>
                <a:latin typeface="Lato"/>
              </a:rPr>
              <a:t> 01 - </a:t>
            </a: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Stateful</a:t>
            </a:r>
            <a:r>
              <a:rPr lang="en-US" sz="2300" spc="249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Wiget</a:t>
            </a:r>
            <a:endParaRPr lang="en-US" sz="2300" spc="249" dirty="0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Fonte</a:t>
            </a:r>
            <a:r>
              <a:rPr lang="en-US" sz="2300" spc="249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pc="249" dirty="0">
                <a:solidFill>
                  <a:srgbClr val="000000"/>
                </a:solidFill>
                <a:latin typeface="Lato"/>
                <a:hlinkClick r:id="rId3"/>
              </a:rPr>
              <a:t>https://medium.com/tableless/entendendo-os-tipos-de-widgets-do-flutter-de9bb9296bf6</a:t>
            </a:r>
            <a:r>
              <a:rPr lang="en-US" spc="249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8835414" y="3157279"/>
            <a:ext cx="9355630" cy="4462301"/>
          </a:xfrm>
          <a:custGeom>
            <a:avLst/>
            <a:gdLst/>
            <a:ahLst/>
            <a:cxnLst/>
            <a:rect l="l" t="t" r="r" b="b"/>
            <a:pathLst>
              <a:path w="9355630" h="4462301">
                <a:moveTo>
                  <a:pt x="0" y="0"/>
                </a:moveTo>
                <a:lnTo>
                  <a:pt x="9355630" y="0"/>
                </a:lnTo>
                <a:lnTo>
                  <a:pt x="9355630" y="4462301"/>
                </a:lnTo>
                <a:lnTo>
                  <a:pt x="0" y="4462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5" t="-23017" r="-506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4768581" y="133350"/>
            <a:ext cx="913575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STATELESS WIDGET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1190043"/>
            <a:ext cx="8770631" cy="897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Os Widgets que não possuem estado são denominados de Stateless Widget;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Os Stateless Widgets são componentes que não possuem alteração após renderizado;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No exemplo ao lado, a terceira imagem apresenta o que ocorre ao clicar em algum arquivo contido nos componentes; 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O passo seguinte é exibir uma nova tela com a imagem em tamanho real para o usuário.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20673" y="7780484"/>
            <a:ext cx="8767327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Figura</a:t>
            </a:r>
            <a:r>
              <a:rPr lang="en-US" sz="2300" spc="249" dirty="0">
                <a:solidFill>
                  <a:srgbClr val="000000"/>
                </a:solidFill>
                <a:latin typeface="Lato"/>
              </a:rPr>
              <a:t> 02 - Stateless </a:t>
            </a: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Wiget</a:t>
            </a:r>
            <a:endParaRPr lang="en-US" sz="2300" spc="249" dirty="0">
              <a:solidFill>
                <a:srgbClr val="000000"/>
              </a:solidFill>
              <a:latin typeface="Lato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300" spc="249" dirty="0" err="1">
                <a:solidFill>
                  <a:srgbClr val="000000"/>
                </a:solidFill>
                <a:latin typeface="Lato"/>
              </a:rPr>
              <a:t>Fonte</a:t>
            </a:r>
            <a:r>
              <a:rPr lang="en-US" sz="2300" spc="249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pc="249" dirty="0">
                <a:solidFill>
                  <a:srgbClr val="000000"/>
                </a:solidFill>
                <a:latin typeface="Lato"/>
                <a:hlinkClick r:id="rId3"/>
              </a:rPr>
              <a:t>https://medium.com/tableless/entendendo-os-tipos-de-widgets-do-flutter-de9bb9296bf6</a:t>
            </a:r>
            <a:r>
              <a:rPr lang="en-US" spc="249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768581" y="133350"/>
            <a:ext cx="9135755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WIDGETS BÁSICOS DO FLUTTER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8256" y="2643819"/>
            <a:ext cx="17161448" cy="616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Text: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permite criar uma sequência de texto estilizado em seu aplicativo;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Row, Column: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permitem criar layouts flexíveis nas direções horizontal (Row) e vertical (Column);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Stack: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permite colocar widgets uns sobre os outros;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Container: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permite criar um elemento visual retangular. Ele pode possuir margens, preenchimento e restrições aplicadas ao seu tamanho.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algn="just">
              <a:lnSpc>
                <a:spcPts val="4480"/>
              </a:lnSpc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Estes widgets podem ser utilizados em conjunto.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847591" y="338775"/>
            <a:ext cx="9135755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OUTROS WIDGETS DO FLUTTER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276" y="2529205"/>
            <a:ext cx="17161448" cy="672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AppBar: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cria um Container com altura de 56 pixels independentes do dispositivo, com preenchimento interno de 8 pixels;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Scaffold: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organiza seus filhos em uma coluna vertical. No topo da coluna é colocado uma instância do MyAppBar, passando para a barra de aplicativos um Widget Text para usar como título;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marL="690881" lvl="1" indent="-345440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 Bold"/>
              </a:rPr>
              <a:t>MaterialApp: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é a raiz de um aplicativo Flutter, no qual há vários outros widgets necessários para o aplicativo.</a:t>
            </a:r>
          </a:p>
          <a:p>
            <a:pPr algn="just">
              <a:lnSpc>
                <a:spcPts val="4480"/>
              </a:lnSpc>
            </a:pPr>
            <a:endParaRPr lang="en-US" sz="3200" spc="320">
              <a:solidFill>
                <a:srgbClr val="000000"/>
              </a:solidFill>
              <a:latin typeface="Lato"/>
            </a:endParaRPr>
          </a:p>
          <a:p>
            <a:pPr algn="just">
              <a:lnSpc>
                <a:spcPts val="4480"/>
              </a:lnSpc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Estes são alguns exemplos de Widgets que utilizam outros widgets na sua composição.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450" y="4391117"/>
            <a:ext cx="10613150" cy="5584036"/>
          </a:xfrm>
          <a:custGeom>
            <a:avLst/>
            <a:gdLst/>
            <a:ahLst/>
            <a:cxnLst/>
            <a:rect l="l" t="t" r="r" b="b"/>
            <a:pathLst>
              <a:path w="11261140" h="5584036">
                <a:moveTo>
                  <a:pt x="0" y="0"/>
                </a:moveTo>
                <a:lnTo>
                  <a:pt x="11261140" y="0"/>
                </a:lnTo>
                <a:lnTo>
                  <a:pt x="11261140" y="5584037"/>
                </a:lnTo>
                <a:lnTo>
                  <a:pt x="0" y="558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0452906" y="194077"/>
            <a:ext cx="7211101" cy="4073216"/>
          </a:xfrm>
          <a:custGeom>
            <a:avLst/>
            <a:gdLst/>
            <a:ahLst/>
            <a:cxnLst/>
            <a:rect l="l" t="t" r="r" b="b"/>
            <a:pathLst>
              <a:path w="7211101" h="4073216">
                <a:moveTo>
                  <a:pt x="0" y="0"/>
                </a:moveTo>
                <a:lnTo>
                  <a:pt x="7211101" y="0"/>
                </a:lnTo>
                <a:lnTo>
                  <a:pt x="7211101" y="4073215"/>
                </a:lnTo>
                <a:lnTo>
                  <a:pt x="0" y="4073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10896600" y="876300"/>
            <a:ext cx="1752600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1981200" y="6062344"/>
            <a:ext cx="1066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286000" y="6351268"/>
            <a:ext cx="1066800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768581" y="133350"/>
            <a:ext cx="913575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276" y="1569289"/>
            <a:ext cx="17161448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SANTANA, F. </a:t>
            </a:r>
            <a:r>
              <a:rPr lang="en-US" sz="3200" spc="320" dirty="0" err="1">
                <a:solidFill>
                  <a:srgbClr val="000000"/>
                </a:solidFill>
                <a:latin typeface="Lato Bold"/>
              </a:rPr>
              <a:t>Entendendo</a:t>
            </a:r>
            <a:r>
              <a:rPr lang="en-US" sz="3200" spc="320" dirty="0">
                <a:solidFill>
                  <a:srgbClr val="000000"/>
                </a:solidFill>
                <a:latin typeface="Lato Bold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 Bold"/>
              </a:rPr>
              <a:t>os</a:t>
            </a:r>
            <a:r>
              <a:rPr lang="en-US" sz="3200" spc="320" dirty="0">
                <a:solidFill>
                  <a:srgbClr val="000000"/>
                </a:solidFill>
                <a:latin typeface="Lato Bold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 Bold"/>
              </a:rPr>
              <a:t>tipos</a:t>
            </a:r>
            <a:r>
              <a:rPr lang="en-US" sz="3200" spc="320" dirty="0">
                <a:solidFill>
                  <a:srgbClr val="000000"/>
                </a:solidFill>
                <a:latin typeface="Lato Bold"/>
              </a:rPr>
              <a:t> de Widgets do Flutter - </a:t>
            </a:r>
            <a:r>
              <a:rPr lang="en-US" sz="3200" spc="320" dirty="0" err="1">
                <a:solidFill>
                  <a:srgbClr val="000000"/>
                </a:solidFill>
                <a:latin typeface="Lato Bold"/>
              </a:rPr>
              <a:t>Tableless</a:t>
            </a:r>
            <a:r>
              <a:rPr lang="en-US" sz="3200" spc="320" dirty="0">
                <a:solidFill>
                  <a:srgbClr val="000000"/>
                </a:solidFill>
                <a:latin typeface="Lato Bold"/>
              </a:rPr>
              <a:t> - Medium.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Disponível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3200" spc="320" dirty="0">
                <a:solidFill>
                  <a:srgbClr val="000000"/>
                </a:solidFill>
                <a:latin typeface="Lato"/>
                <a:hlinkClick r:id="rId2"/>
              </a:rPr>
              <a:t>https://medium.com/tableless/entendendo-os-tipos-de-widgets-do-flutter-de9bb9296bf6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Acesso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7 mar. 2024.</a:t>
            </a:r>
          </a:p>
          <a:p>
            <a:pPr algn="just">
              <a:lnSpc>
                <a:spcPts val="4480"/>
              </a:lnSpc>
            </a:pPr>
            <a:endParaRPr lang="en-US" sz="3200" spc="320" dirty="0">
              <a:solidFill>
                <a:srgbClr val="000000"/>
              </a:solidFill>
              <a:latin typeface="Lato"/>
            </a:endParaRPr>
          </a:p>
          <a:p>
            <a:pPr algn="just">
              <a:lnSpc>
                <a:spcPts val="4480"/>
              </a:lnSpc>
            </a:pPr>
            <a:r>
              <a:rPr lang="en-US" sz="3200" spc="320" dirty="0">
                <a:solidFill>
                  <a:srgbClr val="000000"/>
                </a:solidFill>
                <a:latin typeface="Lato Bold"/>
              </a:rPr>
              <a:t>Building user interfaces with Flutter.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Disponível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3200" spc="320" dirty="0">
                <a:solidFill>
                  <a:srgbClr val="000000"/>
                </a:solidFill>
                <a:latin typeface="Lato"/>
                <a:hlinkClick r:id="rId3"/>
              </a:rPr>
              <a:t>https://docs.flutter.dev/ui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Acesso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7 mar.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469</Words>
  <Application>Microsoft Office PowerPoint</Application>
  <PresentationFormat>Personalizar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Poppins Ultra-Bold</vt:lpstr>
      <vt:lpstr>Lato Bold</vt:lpstr>
      <vt:lpstr>Poppins Bold</vt:lpstr>
      <vt:lpstr>Calibri</vt:lpstr>
      <vt:lpstr>Lato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Flutter</dc:title>
  <cp:lastModifiedBy>Office</cp:lastModifiedBy>
  <cp:revision>5</cp:revision>
  <dcterms:created xsi:type="dcterms:W3CDTF">2006-08-16T00:00:00Z</dcterms:created>
  <dcterms:modified xsi:type="dcterms:W3CDTF">2025-11-25T01:49:01Z</dcterms:modified>
  <dc:identifier>DAF-TiBPULQ</dc:identifier>
</cp:coreProperties>
</file>