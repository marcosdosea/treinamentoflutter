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93" r:id="rId5"/>
    <p:sldId id="294" r:id="rId6"/>
    <p:sldId id="286" r:id="rId7"/>
    <p:sldId id="290" r:id="rId8"/>
    <p:sldId id="285" r:id="rId9"/>
    <p:sldId id="287" r:id="rId10"/>
    <p:sldId id="296" r:id="rId11"/>
    <p:sldId id="297" r:id="rId12"/>
    <p:sldId id="298" r:id="rId13"/>
    <p:sldId id="299" r:id="rId14"/>
    <p:sldId id="288" r:id="rId15"/>
    <p:sldId id="292" r:id="rId16"/>
    <p:sldId id="302" r:id="rId17"/>
    <p:sldId id="300" r:id="rId18"/>
    <p:sldId id="304" r:id="rId19"/>
    <p:sldId id="289" r:id="rId20"/>
    <p:sldId id="291" r:id="rId21"/>
    <p:sldId id="303" r:id="rId22"/>
    <p:sldId id="280" r:id="rId23"/>
  </p:sldIdLst>
  <p:sldSz cx="18288000" cy="10287000"/>
  <p:notesSz cx="6858000" cy="9144000"/>
  <p:embeddedFontLst>
    <p:embeddedFont>
      <p:font typeface="Lato" panose="020F0502020204030203" pitchFamily="34" charset="0"/>
      <p:regular r:id="rId24"/>
      <p:bold r:id="rId25"/>
    </p:embeddedFont>
    <p:embeddedFont>
      <p:font typeface="Lato Bold" panose="020F0502020204030203" charset="0"/>
      <p:regular r:id="rId26"/>
    </p:embeddedFont>
    <p:embeddedFont>
      <p:font typeface="Poppins Bold" panose="020B0604020202020204" charset="0"/>
      <p:regular r:id="rId27"/>
    </p:embeddedFont>
    <p:embeddedFont>
      <p:font typeface="Poppins Ultra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ata-and-backend/state-mgmt/ephemeral-vs-app" TargetMode="External"/><Relationship Id="rId2" Type="http://schemas.openxmlformats.org/officeDocument/2006/relationships/hyperlink" Target="https://medium.com/@maizalouise/setstate-e-o-gerenciamento-de-estado-no-flutter-60128977d4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lura.com.br/artigos/como-gerenciar-estados-com-flutter-provider" TargetMode="External"/><Relationship Id="rId5" Type="http://schemas.openxmlformats.org/officeDocument/2006/relationships/hyperlink" Target="https://docs.flutter.dev/data-and-backend/state-mgmt/simple" TargetMode="External"/><Relationship Id="rId4" Type="http://schemas.openxmlformats.org/officeDocument/2006/relationships/hyperlink" Target="https://www.alura.com.br/artigos/gerenciamento-de-estados-flutter-principais-ferrament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9737" y="4610100"/>
            <a:ext cx="13335015" cy="1427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Manipulação de Estados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1195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 João Victor, Paulo Vitor 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 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3266741" y="55428"/>
            <a:ext cx="10176144" cy="10176144"/>
            <a:chOff x="43346" y="43346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43346" y="43346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3042775" y="445888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122656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082286" y="2840721"/>
            <a:ext cx="8558948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O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que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é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gerenciamento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de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estado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5" name="Group 15"/>
          <p:cNvGrpSpPr/>
          <p:nvPr/>
        </p:nvGrpSpPr>
        <p:grpSpPr>
          <a:xfrm rot="-5400000">
            <a:off x="555702" y="4343349"/>
            <a:ext cx="829509" cy="1966473"/>
            <a:chOff x="0" y="0"/>
            <a:chExt cx="2354580" cy="5581882"/>
          </a:xfrm>
        </p:grpSpPr>
        <p:sp>
          <p:nvSpPr>
            <p:cNvPr id="2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" name="TextBox 23"/>
          <p:cNvSpPr txBox="1"/>
          <p:nvPr/>
        </p:nvSpPr>
        <p:spPr>
          <a:xfrm>
            <a:off x="2137072" y="5042093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SetState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8" name="Group 15"/>
          <p:cNvGrpSpPr/>
          <p:nvPr/>
        </p:nvGrpSpPr>
        <p:grpSpPr>
          <a:xfrm rot="-5400000">
            <a:off x="533847" y="7647334"/>
            <a:ext cx="829509" cy="1966473"/>
            <a:chOff x="0" y="0"/>
            <a:chExt cx="2354580" cy="5581882"/>
          </a:xfrm>
        </p:grpSpPr>
        <p:sp>
          <p:nvSpPr>
            <p:cNvPr id="29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0" name="TextBox 23"/>
          <p:cNvSpPr txBox="1"/>
          <p:nvPr/>
        </p:nvSpPr>
        <p:spPr>
          <a:xfrm>
            <a:off x="2137072" y="835511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BLoc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1" name="Group 15"/>
          <p:cNvGrpSpPr/>
          <p:nvPr/>
        </p:nvGrpSpPr>
        <p:grpSpPr>
          <a:xfrm rot="-5400000">
            <a:off x="533847" y="8737178"/>
            <a:ext cx="829509" cy="1966473"/>
            <a:chOff x="0" y="0"/>
            <a:chExt cx="2354580" cy="5581882"/>
          </a:xfrm>
        </p:grpSpPr>
        <p:sp>
          <p:nvSpPr>
            <p:cNvPr id="32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Box 23"/>
          <p:cNvSpPr txBox="1"/>
          <p:nvPr/>
        </p:nvSpPr>
        <p:spPr>
          <a:xfrm>
            <a:off x="2123218" y="9437195"/>
            <a:ext cx="10449144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InheritedWidget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4" name="Group 15"/>
          <p:cNvGrpSpPr/>
          <p:nvPr/>
        </p:nvGrpSpPr>
        <p:grpSpPr>
          <a:xfrm rot="-5400000">
            <a:off x="568483" y="3235518"/>
            <a:ext cx="829509" cy="1966473"/>
            <a:chOff x="0" y="0"/>
            <a:chExt cx="2354580" cy="5581882"/>
          </a:xfrm>
        </p:grpSpPr>
        <p:sp>
          <p:nvSpPr>
            <p:cNvPr id="35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" name="TextBox 23"/>
          <p:cNvSpPr txBox="1"/>
          <p:nvPr/>
        </p:nvSpPr>
        <p:spPr>
          <a:xfrm>
            <a:off x="2123218" y="3929420"/>
            <a:ext cx="9992582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Estado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Efêmero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7" name="Group 15"/>
          <p:cNvGrpSpPr/>
          <p:nvPr/>
        </p:nvGrpSpPr>
        <p:grpSpPr>
          <a:xfrm rot="-5400000">
            <a:off x="533847" y="5447642"/>
            <a:ext cx="829509" cy="1966473"/>
            <a:chOff x="0" y="0"/>
            <a:chExt cx="2354580" cy="5581882"/>
          </a:xfrm>
        </p:grpSpPr>
        <p:sp>
          <p:nvSpPr>
            <p:cNvPr id="38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9" name="TextBox 23"/>
          <p:cNvSpPr txBox="1"/>
          <p:nvPr/>
        </p:nvSpPr>
        <p:spPr>
          <a:xfrm>
            <a:off x="2123218" y="6166300"/>
            <a:ext cx="7343333" cy="569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Estado do </a:t>
            </a:r>
            <a:r>
              <a:rPr lang="en-US" sz="3600" spc="350" dirty="0" err="1">
                <a:solidFill>
                  <a:srgbClr val="2B4A9D"/>
                </a:solidFill>
                <a:latin typeface="Lato Bold"/>
              </a:rPr>
              <a:t>Aplicativo</a:t>
            </a:r>
            <a:endParaRPr lang="en-US" sz="36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40" name="Group 15"/>
          <p:cNvGrpSpPr/>
          <p:nvPr/>
        </p:nvGrpSpPr>
        <p:grpSpPr>
          <a:xfrm rot="-5400000">
            <a:off x="568483" y="6552382"/>
            <a:ext cx="829509" cy="1966473"/>
            <a:chOff x="0" y="0"/>
            <a:chExt cx="2354580" cy="5581882"/>
          </a:xfrm>
        </p:grpSpPr>
        <p:sp>
          <p:nvSpPr>
            <p:cNvPr id="41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2" name="TextBox 23"/>
          <p:cNvSpPr txBox="1"/>
          <p:nvPr/>
        </p:nvSpPr>
        <p:spPr>
          <a:xfrm>
            <a:off x="2137072" y="7314039"/>
            <a:ext cx="7343333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571500"/>
            <a:ext cx="954924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que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é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gerenciamento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estado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6673" y="3238500"/>
            <a:ext cx="16144008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gerenciamento de estados é uma parte fundamental para manter informações e responder a interações do usuário em um aplicativo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 diversas maneiras para gerenciar estados. Nesta aula vamos apresentar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Mas antes, devemos entender a diferença entre estado efêmero e estado do aplicativo.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571500"/>
            <a:ext cx="9549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Estado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Efêmero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2324100"/>
            <a:ext cx="16144008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estado efêmero, também chamado de estado da interface do usuário ou estado local, é o estado que pode ser contido em um único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Alguns exemplos são: página atual em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PageView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progresso atual de uma animação complexa e uma guia atualmente selecionada em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BottomNavigationBar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 resumo, no estado efêmero não há necessidade de utilizar técnicas de gerenciamento de estado, tudo o que precisa é de um arquivo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StatefulWidget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seguir é apresentado um exemplo do seu uso.</a:t>
            </a:r>
          </a:p>
        </p:txBody>
      </p:sp>
    </p:spTree>
    <p:extLst>
      <p:ext uri="{BB962C8B-B14F-4D97-AF65-F5344CB8AC3E}">
        <p14:creationId xmlns:p14="http://schemas.microsoft.com/office/powerpoint/2010/main" val="192943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245149" y="-189191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2019300"/>
            <a:ext cx="8799841" cy="5791200"/>
          </a:xfrm>
          <a:prstGeom prst="rect">
            <a:avLst/>
          </a:prstGeom>
        </p:spPr>
      </p:pic>
      <p:sp>
        <p:nvSpPr>
          <p:cNvPr id="7" name="TextBox 16"/>
          <p:cNvSpPr txBox="1"/>
          <p:nvPr/>
        </p:nvSpPr>
        <p:spPr>
          <a:xfrm>
            <a:off x="30480" y="1053703"/>
            <a:ext cx="8686800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 exemplo, o item atualmente selecionado em uma barra de navegação é mantido no campo index, o qual é um estado efêmero;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Nenhuma outra parte do aplicativo precisa utilizar o index, a variável muda apenas dentro do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MyHomepage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Ademais, se o usuário fechar e reiniciar o aplicativo, você não se importa que o index seja zerado;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utilizado no estado efêmero, o qual será apresentado a seguir.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428482" y="7836877"/>
            <a:ext cx="3926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– Estado efêmero</a:t>
            </a:r>
          </a:p>
        </p:txBody>
      </p:sp>
    </p:spTree>
    <p:extLst>
      <p:ext uri="{BB962C8B-B14F-4D97-AF65-F5344CB8AC3E}">
        <p14:creationId xmlns:p14="http://schemas.microsoft.com/office/powerpoint/2010/main" val="87038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SetState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7200" y="2150353"/>
            <a:ext cx="792480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Flutter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função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um widget;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 algo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widget,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chamado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algo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precisa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redesenhar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interface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147599" y="6286500"/>
            <a:ext cx="3945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E9A8D7-822E-5818-4DB3-A27203F2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463" y="3771900"/>
            <a:ext cx="9166471" cy="237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4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6"/>
          <p:cNvSpPr txBox="1"/>
          <p:nvPr/>
        </p:nvSpPr>
        <p:spPr>
          <a:xfrm>
            <a:off x="228600" y="1914939"/>
            <a:ext cx="7924800" cy="732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nova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tarefa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categoria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padrão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já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associada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(a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primeira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disponível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);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se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escolher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outra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categoria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tarefa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 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então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reconstrói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widget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conteúdo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0358552" y="7940308"/>
            <a:ext cx="548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Exemplo usando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81EAD6-77BB-9A74-D437-6C376DD7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29035"/>
            <a:ext cx="8830907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4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para o aplicativo de tarefas está disponível no projeto 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Priorize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900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425246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Estado do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Aplicativo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01781" y="2476500"/>
            <a:ext cx="17321646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também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chamado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aquele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muitas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mantido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entre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sessões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Alguns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preferências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login,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social,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carrinho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compras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comércio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eletrônico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entre outros;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seguir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apresentadas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algumas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formas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realizar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3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42900"/>
            <a:ext cx="985404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Gerenciamento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estados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com o Provider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1000" y="2705100"/>
            <a:ext cx="17321646" cy="609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Provider é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pacote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funcionalidades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toda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árvore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widgets;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ideia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principal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eficiente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passar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entre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necessidade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intermediários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Provider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flexível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diferentes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cenários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pequenas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até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complexas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7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42900"/>
            <a:ext cx="98540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Como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utilizar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o Provider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" y="1662341"/>
            <a:ext cx="176022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Verifique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dependência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Provider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arquivo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pubspec.yaml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”.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Rode no terminal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“flutter pub get”.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03639" y="8678893"/>
            <a:ext cx="4804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04 – Dependência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1E2D2A-B05E-1793-3725-4917731C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118" y="5670411"/>
            <a:ext cx="4459764" cy="294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84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42900"/>
            <a:ext cx="98540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Como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utilizar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o Provider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76943" y="1128371"/>
            <a:ext cx="9296400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inicialmente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definido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Provider,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onde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instância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houveram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mudanças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devem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Essa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instância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recebe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dois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argumentos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primeiro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o “create”,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mostra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vai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alterado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segundo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o “child”,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precisa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avisado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isso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for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alterado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535860" y="7277100"/>
            <a:ext cx="474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05 – Definição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11596C1-B4A5-2435-CAB4-93B1B8AD8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83" y="5088340"/>
            <a:ext cx="5960163" cy="218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7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41986" y="-174537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800100"/>
            <a:ext cx="10058400" cy="9848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“Consumer”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consumir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provider,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irá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consumir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TodoListProvider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CounterProvider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estende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simples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incluída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alterações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ouvintes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Portanto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TodoListProvider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capaz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ouvintes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sobre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mudanças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1801159" y="7277100"/>
            <a:ext cx="4214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06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Consumer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AA4800-E705-2C7A-D9D4-8A93A78B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963660"/>
            <a:ext cx="715427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5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6624089" y="8801100"/>
            <a:ext cx="5497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07 – Exemplo usando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985295-C0E4-9E91-BF0F-2A1B7785C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730" y="1030490"/>
            <a:ext cx="8516539" cy="76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73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9378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BLoc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0554" y="1866900"/>
            <a:ext cx="94488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Bloc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arquitetura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escalável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organizada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separa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lógica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negócios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interface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Bloc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(a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tarefas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)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Bloc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acessar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esses dados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interface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2506248" y="6519081"/>
            <a:ext cx="3510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08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8FB6B1-AAA3-983E-4F32-D31F02940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399" y="3900314"/>
            <a:ext cx="6882597" cy="261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9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6400800" y="8496300"/>
            <a:ext cx="5025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09 – Exemplo usando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5C8378-F7A9-24BC-AAC5-24DE3160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90700"/>
            <a:ext cx="6800270" cy="61004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BB74C8D-630E-8B70-A195-D944A64BC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829" y="1790700"/>
            <a:ext cx="6800269" cy="61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7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0273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307031" y="7620"/>
            <a:ext cx="10311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InheritedWidget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1409700"/>
            <a:ext cx="9448800" cy="732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entre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árvore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widgets de forma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eficiente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atua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das tasks entre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árvore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widgets;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Facilita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dos dados,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permitindo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sejam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automaticamente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621005" y="6896100"/>
            <a:ext cx="5052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10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B04CF5-25A5-554C-6BBE-28695939D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924300"/>
            <a:ext cx="6806596" cy="283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87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5033404" y="8811898"/>
            <a:ext cx="6167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11 – Exemplo com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C2E720-0044-6176-2096-009CE397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483" y="1012868"/>
            <a:ext cx="5791200" cy="51945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AD49F5-2538-4C9C-456E-44351B54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223270"/>
            <a:ext cx="8004283" cy="24111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CDAB0C3-B897-5BB2-BE95-3126A1DAF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012868"/>
            <a:ext cx="5790457" cy="519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34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6265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2511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66800" y="1014187"/>
            <a:ext cx="16372608" cy="9262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dirty="0"/>
              <a:t>LOUISE, M. </a:t>
            </a:r>
            <a:r>
              <a:rPr lang="pt-BR" sz="3600" b="1" dirty="0" err="1"/>
              <a:t>SetState</a:t>
            </a:r>
            <a:r>
              <a:rPr lang="pt-BR" sz="3600" b="1" dirty="0"/>
              <a:t> e o Gerenciamento de estado no </a:t>
            </a:r>
            <a:r>
              <a:rPr lang="pt-BR" sz="3600" b="1" dirty="0" err="1"/>
              <a:t>Flutter</a:t>
            </a:r>
            <a:r>
              <a:rPr lang="pt-BR" sz="3600" dirty="0"/>
              <a:t>. Disponível em: </a:t>
            </a:r>
            <a:r>
              <a:rPr lang="pt-BR" sz="3600" dirty="0">
                <a:hlinkClick r:id="rId2"/>
              </a:rPr>
              <a:t>https://medium.com/@maizalouise/setstate-e-o-gerenciamento-de-estado-no-flutter-60128977d4d</a:t>
            </a:r>
            <a:r>
              <a:rPr lang="pt-BR" sz="3600" dirty="0"/>
              <a:t>. Acesso em: 24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 err="1"/>
              <a:t>Differentiate</a:t>
            </a:r>
            <a:r>
              <a:rPr lang="pt-BR" sz="3600" b="1" dirty="0"/>
              <a:t> </a:t>
            </a:r>
            <a:r>
              <a:rPr lang="pt-BR" sz="3600" b="1" dirty="0" err="1"/>
              <a:t>between</a:t>
            </a:r>
            <a:r>
              <a:rPr lang="pt-BR" sz="3600" b="1" dirty="0"/>
              <a:t> </a:t>
            </a:r>
            <a:r>
              <a:rPr lang="pt-BR" sz="3600" b="1" dirty="0" err="1"/>
              <a:t>ephemeral</a:t>
            </a:r>
            <a:r>
              <a:rPr lang="pt-BR" sz="3600" b="1" dirty="0"/>
              <a:t> </a:t>
            </a:r>
            <a:r>
              <a:rPr lang="pt-BR" sz="3600" b="1" dirty="0" err="1"/>
              <a:t>state</a:t>
            </a:r>
            <a:r>
              <a:rPr lang="pt-BR" sz="3600" b="1" dirty="0"/>
              <a:t> </a:t>
            </a:r>
            <a:r>
              <a:rPr lang="pt-BR" sz="3600" b="1" dirty="0" err="1"/>
              <a:t>and</a:t>
            </a:r>
            <a:r>
              <a:rPr lang="pt-BR" sz="3600" b="1" dirty="0"/>
              <a:t> </a:t>
            </a:r>
            <a:r>
              <a:rPr lang="pt-BR" sz="3600" b="1" dirty="0" err="1"/>
              <a:t>app</a:t>
            </a:r>
            <a:r>
              <a:rPr lang="pt-BR" sz="3600" b="1" dirty="0"/>
              <a:t> </a:t>
            </a:r>
            <a:r>
              <a:rPr lang="pt-BR" sz="3600" b="1" dirty="0" err="1"/>
              <a:t>state</a:t>
            </a:r>
            <a:r>
              <a:rPr lang="pt-BR" sz="3600" dirty="0"/>
              <a:t>. Disponível em: </a:t>
            </a:r>
            <a:r>
              <a:rPr lang="pt-BR" sz="3600" dirty="0">
                <a:hlinkClick r:id="rId3"/>
              </a:rPr>
              <a:t>https://docs.flutter.dev/data-and-backend/state-mgmt/ephemeral-vs-app</a:t>
            </a:r>
            <a:r>
              <a:rPr lang="pt-BR" sz="3600" dirty="0"/>
              <a:t>. Acesso em: 24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/>
              <a:t>O que é gerenciamento de estados no </a:t>
            </a:r>
            <a:r>
              <a:rPr lang="pt-BR" sz="3600" b="1" dirty="0" err="1"/>
              <a:t>Flutter</a:t>
            </a:r>
            <a:r>
              <a:rPr lang="pt-BR" sz="3600" b="1" dirty="0"/>
              <a:t> e principais ferramentas</a:t>
            </a:r>
            <a:r>
              <a:rPr lang="pt-BR" sz="3600" dirty="0"/>
              <a:t>. Disponível em: </a:t>
            </a:r>
            <a:r>
              <a:rPr lang="pt-BR" sz="3600" dirty="0">
                <a:hlinkClick r:id="rId4"/>
              </a:rPr>
              <a:t>https://www.alura.com.br/artigos/gerenciamento-de-estados-flutter-principais-ferramentas</a:t>
            </a:r>
            <a:r>
              <a:rPr lang="pt-BR" sz="3600" dirty="0"/>
              <a:t>. Acesso em: 24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 err="1"/>
              <a:t>Simple</a:t>
            </a:r>
            <a:r>
              <a:rPr lang="pt-BR" sz="3600" b="1" dirty="0"/>
              <a:t> </a:t>
            </a:r>
            <a:r>
              <a:rPr lang="pt-BR" sz="3600" b="1" dirty="0" err="1"/>
              <a:t>app</a:t>
            </a:r>
            <a:r>
              <a:rPr lang="pt-BR" sz="3600" b="1" dirty="0"/>
              <a:t> </a:t>
            </a:r>
            <a:r>
              <a:rPr lang="pt-BR" sz="3600" b="1" dirty="0" err="1"/>
              <a:t>state</a:t>
            </a:r>
            <a:r>
              <a:rPr lang="pt-BR" sz="3600" b="1" dirty="0"/>
              <a:t> management</a:t>
            </a:r>
            <a:r>
              <a:rPr lang="pt-BR" sz="3600" dirty="0"/>
              <a:t>. Disponível em: </a:t>
            </a:r>
            <a:r>
              <a:rPr lang="pt-BR" sz="3600" dirty="0">
                <a:hlinkClick r:id="rId5"/>
              </a:rPr>
              <a:t>https://docs.flutter.dev/data-and-backend/state-mgmt/simple</a:t>
            </a:r>
            <a:r>
              <a:rPr lang="pt-BR" sz="3600" dirty="0"/>
              <a:t>. Acesso em: 30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/>
              <a:t>Como gerenciar estados com </a:t>
            </a:r>
            <a:r>
              <a:rPr lang="pt-BR" sz="3600" b="1" dirty="0" err="1"/>
              <a:t>Flutter</a:t>
            </a:r>
            <a:r>
              <a:rPr lang="pt-BR" sz="3600" b="1" dirty="0"/>
              <a:t> </a:t>
            </a:r>
            <a:r>
              <a:rPr lang="pt-BR" sz="3600" b="1" dirty="0" err="1"/>
              <a:t>Provider</a:t>
            </a:r>
            <a:r>
              <a:rPr lang="pt-BR" sz="3600" dirty="0"/>
              <a:t>. Disponível em: </a:t>
            </a:r>
            <a:r>
              <a:rPr lang="pt-BR" sz="3600" dirty="0">
                <a:hlinkClick r:id="rId6"/>
              </a:rPr>
              <a:t>https://www.alura.com.br/artigos/como-gerenciar-estados-com-flutter-provider</a:t>
            </a:r>
            <a:r>
              <a:rPr lang="pt-BR" sz="3600" dirty="0"/>
              <a:t>. Acesso em: 30 mar. 2024.</a:t>
            </a:r>
          </a:p>
        </p:txBody>
      </p:sp>
    </p:spTree>
    <p:extLst>
      <p:ext uri="{BB962C8B-B14F-4D97-AF65-F5344CB8AC3E}">
        <p14:creationId xmlns:p14="http://schemas.microsoft.com/office/powerpoint/2010/main" val="16177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1129</Words>
  <Application>Microsoft Office PowerPoint</Application>
  <PresentationFormat>Personalizar</PresentationFormat>
  <Paragraphs>103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Poppins Ultra-Bold</vt:lpstr>
      <vt:lpstr>Lato Bold</vt:lpstr>
      <vt:lpstr>Lato</vt:lpstr>
      <vt:lpstr>Poppins Bold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Paulo Vítor</cp:lastModifiedBy>
  <cp:revision>63</cp:revision>
  <dcterms:created xsi:type="dcterms:W3CDTF">2006-08-16T00:00:00Z</dcterms:created>
  <dcterms:modified xsi:type="dcterms:W3CDTF">2025-11-25T14:43:08Z</dcterms:modified>
  <dc:identifier>DAF-TiBPULQ</dc:identifier>
</cp:coreProperties>
</file>