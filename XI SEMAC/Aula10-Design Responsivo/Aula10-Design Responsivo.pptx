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86" r:id="rId6"/>
    <p:sldId id="287" r:id="rId7"/>
    <p:sldId id="293" r:id="rId8"/>
    <p:sldId id="294" r:id="rId9"/>
    <p:sldId id="288" r:id="rId10"/>
    <p:sldId id="285" r:id="rId11"/>
    <p:sldId id="280" r:id="rId12"/>
  </p:sldIdLst>
  <p:sldSz cx="18288000" cy="10287000"/>
  <p:notesSz cx="6858000" cy="9144000"/>
  <p:embeddedFontLst>
    <p:embeddedFont>
      <p:font typeface="Lato" panose="020F0502020204030203" pitchFamily="34" charset="0"/>
      <p:regular r:id="rId13"/>
      <p:bold r:id="rId14"/>
    </p:embeddedFont>
    <p:embeddedFont>
      <p:font typeface="Lato Bold" panose="020F0502020204030203" charset="0"/>
      <p:regular r:id="rId15"/>
    </p:embeddedFont>
    <p:embeddedFont>
      <p:font typeface="Poppins Bold" panose="020B0604020202020204" charset="0"/>
      <p:regular r:id="rId16"/>
    </p:embeddedFont>
    <p:embeddedFont>
      <p:font typeface="Poppins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lutter.dev/flutter/widgets/LayoutBuilder-class.html" TargetMode="External"/><Relationship Id="rId2" Type="http://schemas.openxmlformats.org/officeDocument/2006/relationships/hyperlink" Target="https://api.flutter.dev/flutter/widgets/MediaQuery-class.html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cervolima.com/flutter-gerenciando-o-objeto-mediaquery/" TargetMode="External"/><Relationship Id="rId4" Type="http://schemas.openxmlformats.org/officeDocument/2006/relationships/hyperlink" Target="https://docs.flutter.dev/ui/layout/responsive/adaptive-respons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9737" y="4610100"/>
            <a:ext cx="13335015" cy="1427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0"/>
              </a:lnSpc>
            </a:pPr>
            <a:r>
              <a:rPr lang="pt-BR" sz="6000" spc="600" dirty="0">
                <a:solidFill>
                  <a:srgbClr val="2B4A9D"/>
                </a:solidFill>
                <a:latin typeface="Poppins Bold"/>
              </a:rPr>
              <a:t>Design Responsivo</a:t>
            </a:r>
            <a:endParaRPr lang="en-US" sz="6000" spc="600" dirty="0">
              <a:solidFill>
                <a:srgbClr val="2B4A9D"/>
              </a:solidFill>
              <a:latin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14372" y="7555634"/>
            <a:ext cx="11682427" cy="1195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 João Victor, Paulo Vitor 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 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653765" y="55427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875366" y="475846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3856" y="3254901"/>
            <a:ext cx="7343333" cy="56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Introdução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5" name="Group 15"/>
          <p:cNvGrpSpPr/>
          <p:nvPr/>
        </p:nvGrpSpPr>
        <p:grpSpPr>
          <a:xfrm rot="-5400000">
            <a:off x="568483" y="3745509"/>
            <a:ext cx="829509" cy="1966473"/>
            <a:chOff x="0" y="0"/>
            <a:chExt cx="2354580" cy="5581882"/>
          </a:xfrm>
        </p:grpSpPr>
        <p:sp>
          <p:nvSpPr>
            <p:cNvPr id="2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" name="TextBox 23"/>
          <p:cNvSpPr txBox="1"/>
          <p:nvPr/>
        </p:nvSpPr>
        <p:spPr>
          <a:xfrm>
            <a:off x="2117237" y="4445526"/>
            <a:ext cx="9090782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Responsivo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x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Adaptativo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8" name="Group 15"/>
          <p:cNvGrpSpPr/>
          <p:nvPr/>
        </p:nvGrpSpPr>
        <p:grpSpPr>
          <a:xfrm rot="-5400000">
            <a:off x="568482" y="4936581"/>
            <a:ext cx="829509" cy="1966473"/>
            <a:chOff x="0" y="0"/>
            <a:chExt cx="2354580" cy="5581882"/>
          </a:xfrm>
        </p:grpSpPr>
        <p:sp>
          <p:nvSpPr>
            <p:cNvPr id="29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0" name="TextBox 23"/>
          <p:cNvSpPr txBox="1"/>
          <p:nvPr/>
        </p:nvSpPr>
        <p:spPr>
          <a:xfrm>
            <a:off x="2123856" y="5624948"/>
            <a:ext cx="9084163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Como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criar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um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aplicativo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responsivo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24" name="Group 15"/>
          <p:cNvGrpSpPr/>
          <p:nvPr/>
        </p:nvGrpSpPr>
        <p:grpSpPr>
          <a:xfrm rot="-5400000">
            <a:off x="568482" y="6197871"/>
            <a:ext cx="829509" cy="1966473"/>
            <a:chOff x="0" y="0"/>
            <a:chExt cx="2354580" cy="5581882"/>
          </a:xfrm>
        </p:grpSpPr>
        <p:sp>
          <p:nvSpPr>
            <p:cNvPr id="31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2" name="TextBox 23"/>
          <p:cNvSpPr txBox="1"/>
          <p:nvPr/>
        </p:nvSpPr>
        <p:spPr>
          <a:xfrm>
            <a:off x="2123856" y="8159625"/>
            <a:ext cx="9084163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MediaQuery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  <p:grpSp>
        <p:nvGrpSpPr>
          <p:cNvPr id="39" name="Group 15"/>
          <p:cNvGrpSpPr/>
          <p:nvPr/>
        </p:nvGrpSpPr>
        <p:grpSpPr>
          <a:xfrm rot="-5400000">
            <a:off x="568482" y="7459608"/>
            <a:ext cx="829509" cy="1966473"/>
            <a:chOff x="0" y="0"/>
            <a:chExt cx="2354580" cy="5581882"/>
          </a:xfrm>
        </p:grpSpPr>
        <p:sp>
          <p:nvSpPr>
            <p:cNvPr id="40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" name="TextBox 23"/>
          <p:cNvSpPr txBox="1"/>
          <p:nvPr/>
        </p:nvSpPr>
        <p:spPr>
          <a:xfrm>
            <a:off x="2123856" y="6896103"/>
            <a:ext cx="9084163" cy="566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LayoutBuilder</a:t>
            </a:r>
            <a:endParaRPr lang="en-US" sz="3500" spc="350" dirty="0">
              <a:solidFill>
                <a:srgbClr val="2B4A9D"/>
              </a:solidFill>
              <a:latin typeface="Lat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817982"/>
            <a:ext cx="8115300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Introdução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2781300"/>
            <a:ext cx="16144008" cy="486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 dos principais objetivos do </a:t>
            </a:r>
            <a:r>
              <a:rPr lang="pt-BR" sz="34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Flutter</a:t>
            </a: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criar uma estrutura que permita desenvolver aplicativos que tenham uma ótima aparência em qualquer plataforma;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Isso significa que seu aplicativo pode aparecer em telas de diversos tamanhos, um smartwatch, um telefone dobrável com duas telas ou até mesmo um monitor de alta definição;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pt-BR" sz="3400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pt-BR" sz="3400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Para este cenário há dois termos: responsivos e adaptativos.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642675"/>
            <a:ext cx="98540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Responsivo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x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Adaptativo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1000" y="3009900"/>
            <a:ext cx="17526000" cy="609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Normalmente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teve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layout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ajustado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tamanho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disponível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Isso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significa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reorganizar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interface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executado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vários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dispositivos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smartwatch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smart TV;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Já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adaptativo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relacionado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à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ideia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adaptar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esse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ser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executado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diversos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tipos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dispositivos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seja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lidar com entradas de mouse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teclado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entradas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toque,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controle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entre outros. </a:t>
            </a:r>
          </a:p>
        </p:txBody>
      </p:sp>
    </p:spTree>
    <p:extLst>
      <p:ext uri="{BB962C8B-B14F-4D97-AF65-F5344CB8AC3E}">
        <p14:creationId xmlns:p14="http://schemas.microsoft.com/office/powerpoint/2010/main" val="181314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5004954" y="190500"/>
            <a:ext cx="81153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Como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criar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um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aplicativo</a:t>
            </a:r>
            <a:r>
              <a:rPr lang="en-US" sz="5000" spc="300" dirty="0">
                <a:solidFill>
                  <a:srgbClr val="2B4A9D"/>
                </a:solidFill>
                <a:latin typeface="Poppins Ultra-Bold"/>
              </a:rPr>
              <a:t> </a:t>
            </a: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responsivo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99604" y="3695700"/>
            <a:ext cx="17526000" cy="486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duas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abordagens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básicas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Flutter com designer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elas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1.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2.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MediaQuery</a:t>
            </a: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>
              <a:lnSpc>
                <a:spcPts val="4759"/>
              </a:lnSpc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Além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dessas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há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outros widgets e classes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úteis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interface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responsiva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mas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abordadas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enquanto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6834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3801571" y="485494"/>
            <a:ext cx="11835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LayoutBuilder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16673" y="2247900"/>
            <a:ext cx="16784321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um widget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permite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widget com base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restrições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layout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fornecidas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pai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É um widget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útil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necessário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layout com base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dimensões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disponíveis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largura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altura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Com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possível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criar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responsivos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se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adaptam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diferentes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tamanhos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seguir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apresentado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um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exemplo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83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3801571" y="485494"/>
            <a:ext cx="118352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LayoutBuilder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1000" y="1270965"/>
            <a:ext cx="7443407" cy="8617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trecho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código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utilizado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Neste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trecho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verificada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largura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largura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for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menor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600 pixels,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usará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layout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pequenas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Caso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contrário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usado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grandes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1208390" y="6362700"/>
            <a:ext cx="37705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01 - </a:t>
            </a:r>
            <a:r>
              <a:rPr lang="pt-BR" sz="2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endParaRPr lang="pt-BR" sz="2500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5F7080-A40D-96F0-A792-954AFE54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528" y="3028570"/>
            <a:ext cx="7484307" cy="333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92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715080" y="8804151"/>
            <a:ext cx="500329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02 – Layout telas pequenas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9570339" y="7256987"/>
            <a:ext cx="47580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Figura 03 – Layout telas grandes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994DCB8-E025-AF6C-A586-0E9B71B02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331020"/>
            <a:ext cx="7385514" cy="589810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AF07DA0-9AA1-186C-F5E7-366725DED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71" y="1181100"/>
            <a:ext cx="5287113" cy="760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16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24400" y="266700"/>
            <a:ext cx="9092046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MediaQuery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1000" y="1669256"/>
            <a:ext cx="17245446" cy="7941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MediaQuery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é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uma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responsável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sobre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ambiente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layout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dispositivo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classe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fornece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métodos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para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acessar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informações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sobre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ambiente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que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executando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</a:t>
            </a:r>
          </a:p>
          <a:p>
            <a:pPr marL="457200" indent="-457200" algn="just">
              <a:lnSpc>
                <a:spcPts val="4759"/>
              </a:lnSpc>
              <a:buFont typeface="Arial" panose="020B0604020202020204" pitchFamily="34" charset="0"/>
              <a:buChar char="•"/>
            </a:pPr>
            <a:endParaRPr lang="en-US" sz="3399" spc="339" dirty="0">
              <a:solidFill>
                <a:srgbClr val="000000"/>
              </a:solidFill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1. Size: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representa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dimensões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tela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dispositivo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2. Padding: define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espaço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entre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borda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de um widget e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	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conteúdo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interno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3.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ViewInsets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: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representa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as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áreas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onde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conteúdo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aplicativo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pode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	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exibido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ser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cortado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;</a:t>
            </a:r>
          </a:p>
          <a:p>
            <a:pPr algn="just">
              <a:lnSpc>
                <a:spcPts val="4759"/>
              </a:lnSpc>
            </a:pP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	4. Orientation: define a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orientação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atual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do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dispositivo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seja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, se o 	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mesmo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está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no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modo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retrato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ou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</a:t>
            </a:r>
            <a:r>
              <a:rPr lang="en-US" sz="3399" spc="339" dirty="0" err="1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paisagem</a:t>
            </a:r>
            <a:r>
              <a:rPr lang="en-US" sz="3399" spc="339" dirty="0">
                <a:solidFill>
                  <a:srgbClr val="000000"/>
                </a:solidFill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47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16673" y="2247900"/>
            <a:ext cx="1661159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 exemplo com o código-fonte completo utilizando o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encontra-se no arquivo </a:t>
            </a:r>
            <a:r>
              <a:rPr lang="pt-BR" sz="3500" b="1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layoutBuilder.dart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  <a:p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OBS.: 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Abra o projeto </a:t>
            </a:r>
            <a:r>
              <a:rPr lang="pt-BR" sz="3500" b="1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Priorize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e tente identificar a propriedade de responsividade, procure por </a:t>
            </a:r>
            <a:r>
              <a:rPr lang="pt-BR" sz="3500" dirty="0" err="1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layoutBuilder</a:t>
            </a:r>
            <a:r>
              <a:rPr lang="pt-BR" sz="3500" dirty="0">
                <a:latin typeface="Lato" panose="020B0604020202020204" charset="0"/>
                <a:ea typeface="Lato" panose="020B0604020202020204" charset="0"/>
                <a:cs typeface="Lato" panose="020B0604020202020204" charset="0"/>
              </a:rPr>
              <a:t> ou semelhantes no código. </a:t>
            </a:r>
            <a:endParaRPr lang="pt-BR" sz="3500" b="1" dirty="0">
              <a:latin typeface="Lato" panose="020B0604020202020204" charset="0"/>
              <a:ea typeface="Lato" panose="020B0604020202020204" charset="0"/>
              <a:cs typeface="Lat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001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800600" y="571500"/>
            <a:ext cx="8115300" cy="785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000" spc="300" dirty="0" err="1">
                <a:solidFill>
                  <a:srgbClr val="2B4A9D"/>
                </a:solidFill>
                <a:latin typeface="Poppins Ultra-Bold"/>
              </a:rPr>
              <a:t>Referências</a:t>
            </a:r>
            <a:endParaRPr lang="en-US" sz="5000" spc="300" dirty="0">
              <a:solidFill>
                <a:srgbClr val="2B4A9D"/>
              </a:solidFill>
              <a:latin typeface="Poppins Ultra-Bold"/>
            </a:endParaRPr>
          </a:p>
        </p:txBody>
      </p:sp>
      <p:grpSp>
        <p:nvGrpSpPr>
          <p:cNvPr id="14" name="Group 1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600" y="1663904"/>
            <a:ext cx="16372608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3600" b="1" dirty="0" err="1"/>
              <a:t>MediaQuery</a:t>
            </a:r>
            <a:r>
              <a:rPr lang="pt-BR" sz="3600" b="1" dirty="0"/>
              <a:t> class</a:t>
            </a:r>
            <a:r>
              <a:rPr lang="pt-BR" sz="3600" dirty="0"/>
              <a:t>. Disponível em: </a:t>
            </a:r>
            <a:r>
              <a:rPr lang="pt-BR" sz="3600" dirty="0">
                <a:hlinkClick r:id="rId2"/>
              </a:rPr>
              <a:t>https://api.flutter.dev/flutter/widgets/MediaQuery-class.html</a:t>
            </a:r>
            <a:r>
              <a:rPr lang="pt-BR" sz="3600" dirty="0"/>
              <a:t>. Acesso em: 9 mar. 2024.</a:t>
            </a:r>
          </a:p>
          <a:p>
            <a:br>
              <a:rPr lang="pt-BR" sz="3600" dirty="0"/>
            </a:br>
            <a:r>
              <a:rPr lang="pt-BR" sz="3600" b="1" dirty="0" err="1"/>
              <a:t>LayoutBuilder</a:t>
            </a:r>
            <a:r>
              <a:rPr lang="pt-BR" sz="3600" b="1" dirty="0"/>
              <a:t> class</a:t>
            </a:r>
            <a:r>
              <a:rPr lang="pt-BR" sz="3600" dirty="0"/>
              <a:t>. Disponível em: </a:t>
            </a:r>
            <a:r>
              <a:rPr lang="pt-BR" sz="3600" dirty="0">
                <a:hlinkClick r:id="rId3"/>
              </a:rPr>
              <a:t>https://api.flutter.dev/flutter/widgets/LayoutBuilder-class.html</a:t>
            </a:r>
            <a:r>
              <a:rPr lang="pt-BR" sz="3600" dirty="0"/>
              <a:t>. Acesso em: 9 mar. 2024.</a:t>
            </a:r>
          </a:p>
          <a:p>
            <a:br>
              <a:rPr lang="pt-BR" sz="3600" dirty="0"/>
            </a:br>
            <a:r>
              <a:rPr lang="pt-BR" sz="3600" b="1" dirty="0" err="1"/>
              <a:t>Creating</a:t>
            </a:r>
            <a:r>
              <a:rPr lang="pt-BR" sz="3600" b="1" dirty="0"/>
              <a:t> </a:t>
            </a:r>
            <a:r>
              <a:rPr lang="pt-BR" sz="3600" b="1" dirty="0" err="1"/>
              <a:t>responsive</a:t>
            </a:r>
            <a:r>
              <a:rPr lang="pt-BR" sz="3600" b="1" dirty="0"/>
              <a:t> </a:t>
            </a:r>
            <a:r>
              <a:rPr lang="pt-BR" sz="3600" b="1" dirty="0" err="1"/>
              <a:t>and</a:t>
            </a:r>
            <a:r>
              <a:rPr lang="pt-BR" sz="3600" b="1" dirty="0"/>
              <a:t> </a:t>
            </a:r>
            <a:r>
              <a:rPr lang="pt-BR" sz="3600" b="1" dirty="0" err="1"/>
              <a:t>adaptive</a:t>
            </a:r>
            <a:r>
              <a:rPr lang="pt-BR" sz="3600" b="1" dirty="0"/>
              <a:t> </a:t>
            </a:r>
            <a:r>
              <a:rPr lang="pt-BR" sz="3600" b="1" dirty="0" err="1"/>
              <a:t>apps</a:t>
            </a:r>
            <a:r>
              <a:rPr lang="pt-BR" sz="3600" dirty="0"/>
              <a:t>. Disponível em: </a:t>
            </a:r>
            <a:r>
              <a:rPr lang="pt-BR" sz="3600" dirty="0">
                <a:hlinkClick r:id="rId4"/>
              </a:rPr>
              <a:t>https://docs.flutter.dev/ui/layout/responsive/adaptive-responsive</a:t>
            </a:r>
            <a:r>
              <a:rPr lang="pt-BR" sz="3600" dirty="0"/>
              <a:t>. Acesso em: 9 mar. 2024.</a:t>
            </a:r>
          </a:p>
          <a:p>
            <a:br>
              <a:rPr lang="pt-BR" sz="3600" dirty="0"/>
            </a:br>
            <a:r>
              <a:rPr lang="pt-BR" sz="3600" b="1" dirty="0" err="1"/>
              <a:t>Flutter</a:t>
            </a:r>
            <a:r>
              <a:rPr lang="pt-BR" sz="3600" b="1" dirty="0"/>
              <a:t> - Gerenciando o objeto </a:t>
            </a:r>
            <a:r>
              <a:rPr lang="pt-BR" sz="3600" b="1" dirty="0" err="1"/>
              <a:t>MediaQuery</a:t>
            </a:r>
            <a:r>
              <a:rPr lang="pt-BR" sz="3600" b="1" dirty="0"/>
              <a:t> – Acervo Lima</a:t>
            </a:r>
            <a:r>
              <a:rPr lang="pt-BR" sz="3600" dirty="0"/>
              <a:t>. Disponível em: </a:t>
            </a:r>
            <a:r>
              <a:rPr lang="pt-BR" sz="3600" dirty="0">
                <a:hlinkClick r:id="rId5"/>
              </a:rPr>
              <a:t>https://acervolima.com/flutter-gerenciando-o-objeto-mediaquery/</a:t>
            </a:r>
            <a:r>
              <a:rPr lang="pt-BR" sz="3600" dirty="0"/>
              <a:t>. Acesso em: 9 mar. 2024.</a:t>
            </a:r>
          </a:p>
        </p:txBody>
      </p:sp>
    </p:spTree>
    <p:extLst>
      <p:ext uri="{BB962C8B-B14F-4D97-AF65-F5344CB8AC3E}">
        <p14:creationId xmlns:p14="http://schemas.microsoft.com/office/powerpoint/2010/main" val="161778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646</Words>
  <Application>Microsoft Office PowerPoint</Application>
  <PresentationFormat>Personalizar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Poppins Bold</vt:lpstr>
      <vt:lpstr>Lato Bold</vt:lpstr>
      <vt:lpstr>Lato</vt:lpstr>
      <vt:lpstr>Calibri</vt:lpstr>
      <vt:lpstr>Arial</vt:lpstr>
      <vt:lpstr>Poppins Ultra-Bold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dc:creator>natalia</dc:creator>
  <cp:lastModifiedBy>Paulo Vítor</cp:lastModifiedBy>
  <cp:revision>58</cp:revision>
  <dcterms:created xsi:type="dcterms:W3CDTF">2006-08-16T00:00:00Z</dcterms:created>
  <dcterms:modified xsi:type="dcterms:W3CDTF">2025-11-25T00:59:23Z</dcterms:modified>
  <dc:identifier>DAF-TiBPULQ</dc:identifier>
</cp:coreProperties>
</file>