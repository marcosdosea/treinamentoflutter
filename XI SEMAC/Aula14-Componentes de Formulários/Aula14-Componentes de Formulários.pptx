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8288000" cy="10287000"/>
  <p:notesSz cx="6858000" cy="9144000"/>
  <p:embeddedFontLst>
    <p:embeddedFont>
      <p:font typeface="Lato" panose="020F0502020204030203" pitchFamily="34" charset="0"/>
      <p:regular r:id="rId27"/>
      <p:bold r:id="rId28"/>
    </p:embeddedFont>
    <p:embeddedFont>
      <p:font typeface="Lato Bold" panose="020F0502020204030203" charset="0"/>
      <p:regular r:id="rId29"/>
    </p:embeddedFont>
    <p:embeddedFont>
      <p:font typeface="Poppins" panose="00000500000000000000" pitchFamily="2" charset="0"/>
      <p:regular r:id="rId30"/>
    </p:embeddedFont>
    <p:embeddedFont>
      <p:font typeface="Poppins Bold" panose="00000800000000000000" charset="0"/>
      <p:regular r:id="rId31"/>
    </p:embeddedFont>
    <p:embeddedFont>
      <p:font typeface="Poppins Ultra-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9" d="100"/>
          <a:sy n="69" d="100"/>
        </p:scale>
        <p:origin x="83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1951024" y="8497790"/>
            <a:ext cx="5218171" cy="6164339"/>
            <a:chOff x="0" y="0"/>
            <a:chExt cx="1620126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20126" cy="1913890"/>
            </a:xfrm>
            <a:custGeom>
              <a:avLst/>
              <a:gdLst/>
              <a:ahLst/>
              <a:cxnLst/>
              <a:rect l="l" t="t" r="r" b="b"/>
              <a:pathLst>
                <a:path w="1620126" h="1913890">
                  <a:moveTo>
                    <a:pt x="0" y="0"/>
                  </a:moveTo>
                  <a:lnTo>
                    <a:pt x="0" y="1913890"/>
                  </a:lnTo>
                  <a:lnTo>
                    <a:pt x="1620126" y="1913890"/>
                  </a:lnTo>
                  <a:lnTo>
                    <a:pt x="1620126" y="0"/>
                  </a:lnTo>
                  <a:lnTo>
                    <a:pt x="0" y="0"/>
                  </a:lnTo>
                  <a:close/>
                  <a:moveTo>
                    <a:pt x="1559166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559166" y="59690"/>
                  </a:lnTo>
                  <a:lnTo>
                    <a:pt x="1559166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5151" y="4571985"/>
            <a:ext cx="12859928" cy="2247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401"/>
              </a:lnSpc>
            </a:pPr>
            <a:r>
              <a:rPr lang="en-US" sz="8001" spc="400">
                <a:solidFill>
                  <a:srgbClr val="2B4A9D"/>
                </a:solidFill>
                <a:latin typeface="Poppins Bold"/>
              </a:rPr>
              <a:t>Componentes de Formulários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5151" y="7260387"/>
            <a:ext cx="12616379" cy="1097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Apresentado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z="3200" spc="320">
                <a:solidFill>
                  <a:srgbClr val="000000"/>
                </a:solidFill>
                <a:latin typeface="Lato"/>
              </a:rPr>
              <a:t>João Victor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Paulo Vitor 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Talysson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Vasconcelos</a:t>
            </a:r>
          </a:p>
        </p:txBody>
      </p:sp>
      <p:sp>
        <p:nvSpPr>
          <p:cNvPr id="10" name="Freeform 10"/>
          <p:cNvSpPr/>
          <p:nvPr/>
        </p:nvSpPr>
        <p:spPr>
          <a:xfrm>
            <a:off x="-4134433" y="1004889"/>
            <a:ext cx="12993464" cy="2102579"/>
          </a:xfrm>
          <a:custGeom>
            <a:avLst/>
            <a:gdLst/>
            <a:ahLst/>
            <a:cxnLst/>
            <a:rect l="l" t="t" r="r" b="b"/>
            <a:pathLst>
              <a:path w="12993464" h="2102579">
                <a:moveTo>
                  <a:pt x="0" y="0"/>
                </a:moveTo>
                <a:lnTo>
                  <a:pt x="12993465" y="0"/>
                </a:lnTo>
                <a:lnTo>
                  <a:pt x="12993465" y="2102578"/>
                </a:lnTo>
                <a:lnTo>
                  <a:pt x="0" y="21025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0" y="0"/>
            <a:ext cx="541602" cy="10287000"/>
            <a:chOff x="0" y="0"/>
            <a:chExt cx="157867" cy="299846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57867" cy="2998468"/>
            </a:xfrm>
            <a:custGeom>
              <a:avLst/>
              <a:gdLst/>
              <a:ahLst/>
              <a:cxnLst/>
              <a:rect l="l" t="t" r="r" b="b"/>
              <a:pathLst>
                <a:path w="157867" h="2998468">
                  <a:moveTo>
                    <a:pt x="0" y="0"/>
                  </a:moveTo>
                  <a:lnTo>
                    <a:pt x="157867" y="0"/>
                  </a:lnTo>
                  <a:lnTo>
                    <a:pt x="157867" y="2998468"/>
                  </a:lnTo>
                  <a:lnTo>
                    <a:pt x="0" y="2998468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6816" y="0"/>
            <a:ext cx="452408" cy="10287000"/>
            <a:chOff x="0" y="0"/>
            <a:chExt cx="165040" cy="3752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5040" cy="3752726"/>
            </a:xfrm>
            <a:custGeom>
              <a:avLst/>
              <a:gdLst/>
              <a:ahLst/>
              <a:cxnLst/>
              <a:rect l="l" t="t" r="r" b="b"/>
              <a:pathLst>
                <a:path w="165040" h="3752726">
                  <a:moveTo>
                    <a:pt x="0" y="0"/>
                  </a:moveTo>
                  <a:lnTo>
                    <a:pt x="165040" y="0"/>
                  </a:lnTo>
                  <a:lnTo>
                    <a:pt x="165040" y="3752726"/>
                  </a:lnTo>
                  <a:lnTo>
                    <a:pt x="0" y="3752726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2190278" y="55428"/>
            <a:ext cx="10176144" cy="10176144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2628620" y="445887"/>
            <a:ext cx="9395227" cy="9395227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 rot="2700000">
            <a:off x="11524419" y="8043030"/>
            <a:ext cx="6164339" cy="6164339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1524419" y="-3920369"/>
            <a:ext cx="6164339" cy="6164339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2" name="Group 12"/>
          <p:cNvGrpSpPr/>
          <p:nvPr/>
        </p:nvGrpSpPr>
        <p:grpSpPr>
          <a:xfrm rot="-5400000">
            <a:off x="4980926" y="-2587876"/>
            <a:ext cx="1629197" cy="7951652"/>
            <a:chOff x="0" y="0"/>
            <a:chExt cx="2354580" cy="1149204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53310" cy="11492046"/>
            </a:xfrm>
            <a:custGeom>
              <a:avLst/>
              <a:gdLst/>
              <a:ahLst/>
              <a:cxnLst/>
              <a:rect l="l" t="t" r="r" b="b"/>
              <a:pathLst>
                <a:path w="2353310" h="11492046">
                  <a:moveTo>
                    <a:pt x="784860" y="11424736"/>
                  </a:moveTo>
                  <a:cubicBezTo>
                    <a:pt x="905510" y="11465376"/>
                    <a:pt x="1042670" y="11492046"/>
                    <a:pt x="1177290" y="11492046"/>
                  </a:cubicBezTo>
                  <a:cubicBezTo>
                    <a:pt x="1311910" y="11492046"/>
                    <a:pt x="1441450" y="11469186"/>
                    <a:pt x="1560830" y="11428546"/>
                  </a:cubicBezTo>
                  <a:cubicBezTo>
                    <a:pt x="1563370" y="11427276"/>
                    <a:pt x="1565910" y="11427276"/>
                    <a:pt x="1568450" y="11426006"/>
                  </a:cubicBezTo>
                  <a:cubicBezTo>
                    <a:pt x="2016760" y="11263446"/>
                    <a:pt x="2346960" y="10834186"/>
                    <a:pt x="2353310" y="10306003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10298100"/>
                  </a:lnTo>
                  <a:cubicBezTo>
                    <a:pt x="6350" y="10836726"/>
                    <a:pt x="331470" y="11265986"/>
                    <a:pt x="784860" y="11424736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23218" y="878380"/>
            <a:ext cx="7020782" cy="89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FFFFFF"/>
                </a:solidFill>
                <a:latin typeface="Poppins Ultra-Bold"/>
              </a:rPr>
              <a:t>AGENDA</a:t>
            </a:r>
          </a:p>
        </p:txBody>
      </p:sp>
      <p:grpSp>
        <p:nvGrpSpPr>
          <p:cNvPr id="15" name="Group 15"/>
          <p:cNvGrpSpPr/>
          <p:nvPr/>
        </p:nvGrpSpPr>
        <p:grpSpPr>
          <a:xfrm rot="-5400000">
            <a:off x="568482" y="2158202"/>
            <a:ext cx="829509" cy="1966473"/>
            <a:chOff x="0" y="0"/>
            <a:chExt cx="2354580" cy="558188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7" name="Group 17"/>
          <p:cNvGrpSpPr/>
          <p:nvPr/>
        </p:nvGrpSpPr>
        <p:grpSpPr>
          <a:xfrm rot="-5400000">
            <a:off x="568482" y="3194238"/>
            <a:ext cx="829509" cy="1966473"/>
            <a:chOff x="0" y="0"/>
            <a:chExt cx="2354580" cy="558188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 rot="-5400000">
            <a:off x="568482" y="4233296"/>
            <a:ext cx="829509" cy="1966473"/>
            <a:chOff x="0" y="0"/>
            <a:chExt cx="2354580" cy="558188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123218" y="5960317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Scrollbar (Barra de rolagem)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123858" y="4920424"/>
            <a:ext cx="734269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DropdownButton (ComboBox)</a:t>
            </a:r>
          </a:p>
        </p:txBody>
      </p:sp>
      <p:grpSp>
        <p:nvGrpSpPr>
          <p:cNvPr id="23" name="Group 23"/>
          <p:cNvGrpSpPr/>
          <p:nvPr/>
        </p:nvGrpSpPr>
        <p:grpSpPr>
          <a:xfrm rot="-5400000">
            <a:off x="568482" y="5272355"/>
            <a:ext cx="829509" cy="1966473"/>
            <a:chOff x="0" y="0"/>
            <a:chExt cx="2354580" cy="5581882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123858" y="6998541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Swipe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23858" y="3882200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Radio Buttons</a:t>
            </a:r>
          </a:p>
        </p:txBody>
      </p:sp>
      <p:grpSp>
        <p:nvGrpSpPr>
          <p:cNvPr id="27" name="Group 27"/>
          <p:cNvGrpSpPr/>
          <p:nvPr/>
        </p:nvGrpSpPr>
        <p:grpSpPr>
          <a:xfrm rot="-5400000">
            <a:off x="568482" y="6311413"/>
            <a:ext cx="829509" cy="1966473"/>
            <a:chOff x="0" y="0"/>
            <a:chExt cx="2354580" cy="558188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Group 29"/>
          <p:cNvGrpSpPr/>
          <p:nvPr/>
        </p:nvGrpSpPr>
        <p:grpSpPr>
          <a:xfrm rot="-5400000">
            <a:off x="568482" y="7350472"/>
            <a:ext cx="829509" cy="1966473"/>
            <a:chOff x="0" y="0"/>
            <a:chExt cx="2354580" cy="5581882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353310" cy="5581882"/>
            </a:xfrm>
            <a:custGeom>
              <a:avLst/>
              <a:gdLst/>
              <a:ahLst/>
              <a:cxnLst/>
              <a:rect l="l" t="t" r="r" b="b"/>
              <a:pathLst>
                <a:path w="2353310" h="5581882">
                  <a:moveTo>
                    <a:pt x="784860" y="5514572"/>
                  </a:moveTo>
                  <a:cubicBezTo>
                    <a:pt x="905510" y="5555212"/>
                    <a:pt x="1042670" y="5581882"/>
                    <a:pt x="1177290" y="5581882"/>
                  </a:cubicBezTo>
                  <a:cubicBezTo>
                    <a:pt x="1311910" y="5581882"/>
                    <a:pt x="1441450" y="5559022"/>
                    <a:pt x="1560830" y="5518382"/>
                  </a:cubicBezTo>
                  <a:cubicBezTo>
                    <a:pt x="1563370" y="5517112"/>
                    <a:pt x="1565910" y="5517112"/>
                    <a:pt x="1568450" y="5515842"/>
                  </a:cubicBezTo>
                  <a:cubicBezTo>
                    <a:pt x="2016760" y="5353282"/>
                    <a:pt x="2346960" y="4924022"/>
                    <a:pt x="2353310" y="4414024"/>
                  </a:cubicBezTo>
                  <a:lnTo>
                    <a:pt x="2353310" y="0"/>
                  </a:lnTo>
                  <a:lnTo>
                    <a:pt x="0" y="0"/>
                  </a:lnTo>
                  <a:lnTo>
                    <a:pt x="0" y="4410668"/>
                  </a:lnTo>
                  <a:cubicBezTo>
                    <a:pt x="6350" y="4926562"/>
                    <a:pt x="331470" y="5355822"/>
                    <a:pt x="784860" y="5514572"/>
                  </a:cubicBez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2123858" y="8038434"/>
            <a:ext cx="8123885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Drag and Drop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123218" y="2839530"/>
            <a:ext cx="7343333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80"/>
              </a:lnSpc>
            </a:pPr>
            <a:r>
              <a:rPr lang="en-US" sz="3200" spc="320">
                <a:solidFill>
                  <a:srgbClr val="2B4A9D"/>
                </a:solidFill>
                <a:latin typeface="Lato Bold"/>
              </a:rPr>
              <a:t>Checkbox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914843" y="6972300"/>
            <a:ext cx="10458313" cy="2226367"/>
          </a:xfrm>
          <a:custGeom>
            <a:avLst/>
            <a:gdLst/>
            <a:ahLst/>
            <a:cxnLst/>
            <a:rect l="l" t="t" r="r" b="b"/>
            <a:pathLst>
              <a:path w="10458313" h="2226367">
                <a:moveTo>
                  <a:pt x="0" y="0"/>
                </a:moveTo>
                <a:lnTo>
                  <a:pt x="10458312" y="0"/>
                </a:lnTo>
                <a:lnTo>
                  <a:pt x="10458312" y="2226367"/>
                </a:lnTo>
                <a:lnTo>
                  <a:pt x="0" y="22263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658873" y="389357"/>
            <a:ext cx="10970254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5999" spc="299">
                <a:solidFill>
                  <a:srgbClr val="2B4A9D"/>
                </a:solidFill>
                <a:latin typeface="Poppins Ultra-Bold"/>
              </a:rPr>
              <a:t>CheckBox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3480" y="2020683"/>
            <a:ext cx="17241040" cy="4661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>
                <a:solidFill>
                  <a:srgbClr val="000000"/>
                </a:solidFill>
                <a:latin typeface="Lato"/>
              </a:rPr>
              <a:t>O checkbox é um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elemento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de interface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gráfica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permite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aos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usuários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selecionar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ou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mais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opções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de um conjunto de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opções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>
                <a:solidFill>
                  <a:srgbClr val="000000"/>
                </a:solidFill>
                <a:latin typeface="Lato"/>
              </a:rPr>
              <a:t>Ele é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frequentemente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representado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caixa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pode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ser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marcada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(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ativada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)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ou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desmarcada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(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desativada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).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Geralmente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, é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usado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formulários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configurações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outras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interfaces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onde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precisa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fazer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escolha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binária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entre duas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opções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Também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possível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utilizer checkboxes para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guardar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múltiplas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escolhas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do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formulário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4535062" y="3899562"/>
            <a:ext cx="9217877" cy="5648021"/>
          </a:xfrm>
          <a:custGeom>
            <a:avLst/>
            <a:gdLst/>
            <a:ahLst/>
            <a:cxnLst/>
            <a:rect l="l" t="t" r="r" b="b"/>
            <a:pathLst>
              <a:path w="9217877" h="5648021">
                <a:moveTo>
                  <a:pt x="0" y="0"/>
                </a:moveTo>
                <a:lnTo>
                  <a:pt x="9217876" y="0"/>
                </a:lnTo>
                <a:lnTo>
                  <a:pt x="9217876" y="5648021"/>
                </a:lnTo>
                <a:lnTo>
                  <a:pt x="0" y="5648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3658873" y="389357"/>
            <a:ext cx="10970254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5999" spc="299">
                <a:solidFill>
                  <a:srgbClr val="2B4A9D"/>
                </a:solidFill>
                <a:latin typeface="Poppins Ultra-Bold"/>
              </a:rPr>
              <a:t>CheckBox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3028" y="1569289"/>
            <a:ext cx="16896272" cy="2159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93" lvl="1" indent="-334646" algn="just">
              <a:lnSpc>
                <a:spcPts val="4340"/>
              </a:lnSpc>
              <a:buFont typeface="Arial"/>
              <a:buChar char="•"/>
            </a:pPr>
            <a:r>
              <a:rPr lang="en-US" sz="3100" spc="310">
                <a:solidFill>
                  <a:srgbClr val="000000"/>
                </a:solidFill>
                <a:latin typeface="Lato"/>
              </a:rPr>
              <a:t>Neste exemplo, criamos um checkbox que inicialmente não está marcado (false). E após o usuário selecioná-lo, é exibida uma SnackBar informando ao usuário que ele aceitou os termos e condições.</a:t>
            </a:r>
          </a:p>
          <a:p>
            <a:pPr marL="669293" lvl="1" indent="-334646" algn="just">
              <a:lnSpc>
                <a:spcPts val="4340"/>
              </a:lnSpc>
              <a:buFont typeface="Arial"/>
              <a:buChar char="•"/>
            </a:pPr>
            <a:r>
              <a:rPr lang="en-US" sz="3100" spc="310">
                <a:solidFill>
                  <a:srgbClr val="000000"/>
                </a:solidFill>
                <a:latin typeface="Lato"/>
              </a:rPr>
              <a:t>Acesse o exemplo completo no arquivo </a:t>
            </a:r>
            <a:r>
              <a:rPr lang="en-US" sz="3100" spc="310">
                <a:solidFill>
                  <a:srgbClr val="000000"/>
                </a:solidFill>
                <a:latin typeface="Lato Bold"/>
              </a:rPr>
              <a:t>Checkbox.dart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4208272" y="2292224"/>
            <a:ext cx="3970487" cy="7108621"/>
          </a:xfrm>
          <a:custGeom>
            <a:avLst/>
            <a:gdLst/>
            <a:ahLst/>
            <a:cxnLst/>
            <a:rect l="l" t="t" r="r" b="b"/>
            <a:pathLst>
              <a:path w="3970487" h="7108621">
                <a:moveTo>
                  <a:pt x="0" y="0"/>
                </a:moveTo>
                <a:lnTo>
                  <a:pt x="3970487" y="0"/>
                </a:lnTo>
                <a:lnTo>
                  <a:pt x="3970487" y="7108622"/>
                </a:lnTo>
                <a:lnTo>
                  <a:pt x="0" y="71086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298" b="-129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0439806" y="2292224"/>
            <a:ext cx="3976610" cy="7108621"/>
          </a:xfrm>
          <a:custGeom>
            <a:avLst/>
            <a:gdLst/>
            <a:ahLst/>
            <a:cxnLst/>
            <a:rect l="l" t="t" r="r" b="b"/>
            <a:pathLst>
              <a:path w="3976610" h="7108621">
                <a:moveTo>
                  <a:pt x="0" y="0"/>
                </a:moveTo>
                <a:lnTo>
                  <a:pt x="3976610" y="0"/>
                </a:lnTo>
                <a:lnTo>
                  <a:pt x="3976610" y="7108622"/>
                </a:lnTo>
                <a:lnTo>
                  <a:pt x="0" y="71086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631" b="-1631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3658873" y="389357"/>
            <a:ext cx="10970254" cy="87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5999" spc="299">
                <a:solidFill>
                  <a:srgbClr val="2B4A9D"/>
                </a:solidFill>
                <a:latin typeface="Poppins Ultra-Bold"/>
              </a:rPr>
              <a:t>CheckBox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3028" y="1569289"/>
            <a:ext cx="840321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1" lvl="1" indent="-367031" algn="just">
              <a:lnSpc>
                <a:spcPts val="4760"/>
              </a:lnSpc>
              <a:buFont typeface="Arial"/>
              <a:buChar char="•"/>
            </a:pPr>
            <a:r>
              <a:rPr lang="en-US" sz="3400" spc="340">
                <a:solidFill>
                  <a:srgbClr val="000000"/>
                </a:solidFill>
                <a:latin typeface="Lato"/>
              </a:rPr>
              <a:t>Telas da aplicação: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16673" y="1996926"/>
            <a:ext cx="16442627" cy="3919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Os radio buttons são widgets de interface gráfica que permitem aos usuários selecionar uma opção exclusiva de um conjunto de opções.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Eles são representados por círculos que podem ser selecionados (ativados) e desativados.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>
                <a:solidFill>
                  <a:srgbClr val="000000"/>
                </a:solidFill>
                <a:latin typeface="Lato"/>
              </a:rPr>
              <a:t>A principal diferença entre radio buttons e checkboxes é que, enquanto os radio buttons permitem apenas uma escolha exclusiva de um conjunto de opções, os checkboxs permitem múltiplas escolhas.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Radio Buttons</a:t>
            </a:r>
          </a:p>
        </p:txBody>
      </p:sp>
      <p:sp>
        <p:nvSpPr>
          <p:cNvPr id="6" name="Freeform 6"/>
          <p:cNvSpPr/>
          <p:nvPr/>
        </p:nvSpPr>
        <p:spPr>
          <a:xfrm>
            <a:off x="6684349" y="6263966"/>
            <a:ext cx="4919301" cy="3160637"/>
          </a:xfrm>
          <a:custGeom>
            <a:avLst/>
            <a:gdLst/>
            <a:ahLst/>
            <a:cxnLst/>
            <a:rect l="l" t="t" r="r" b="b"/>
            <a:pathLst>
              <a:path w="4919301" h="3160637">
                <a:moveTo>
                  <a:pt x="0" y="0"/>
                </a:moveTo>
                <a:lnTo>
                  <a:pt x="4919302" y="0"/>
                </a:lnTo>
                <a:lnTo>
                  <a:pt x="4919302" y="3160637"/>
                </a:lnTo>
                <a:lnTo>
                  <a:pt x="0" y="3160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891" b="-146419"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816673" y="1996926"/>
            <a:ext cx="16442627" cy="6167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No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 Bold"/>
              </a:rPr>
              <a:t>RadioButton.dart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cada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opção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entrega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representada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ListTile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inclui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título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descritivo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e um Radio.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radio buttons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representados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pelo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widget Radio&lt;int&gt;,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onde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int é 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tipo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valor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associado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cada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opção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Cada radio button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tem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groupValue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usado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agrupar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radio buttons 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garantir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apenas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deles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seja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selecionado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vez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onChanged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é um callback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chamado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quando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estado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do radio button é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alterado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 Ele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atualiza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variável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opcaoEntrega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usando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setState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refletir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a nova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seleção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No final da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tela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há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botão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após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pressioná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-lo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será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exibida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entrega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escolhida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Radio Buttons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28700" y="2336844"/>
            <a:ext cx="7440048" cy="5874645"/>
          </a:xfrm>
          <a:custGeom>
            <a:avLst/>
            <a:gdLst/>
            <a:ahLst/>
            <a:cxnLst/>
            <a:rect l="l" t="t" r="r" b="b"/>
            <a:pathLst>
              <a:path w="7440048" h="5874645">
                <a:moveTo>
                  <a:pt x="0" y="0"/>
                </a:moveTo>
                <a:lnTo>
                  <a:pt x="7440048" y="0"/>
                </a:lnTo>
                <a:lnTo>
                  <a:pt x="7440048" y="5874645"/>
                </a:lnTo>
                <a:lnTo>
                  <a:pt x="0" y="58746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69270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9193087" y="2998725"/>
            <a:ext cx="8066213" cy="4550883"/>
          </a:xfrm>
          <a:custGeom>
            <a:avLst/>
            <a:gdLst/>
            <a:ahLst/>
            <a:cxnLst/>
            <a:rect l="l" t="t" r="r" b="b"/>
            <a:pathLst>
              <a:path w="8066213" h="4550883">
                <a:moveTo>
                  <a:pt x="0" y="0"/>
                </a:moveTo>
                <a:lnTo>
                  <a:pt x="8066213" y="0"/>
                </a:lnTo>
                <a:lnTo>
                  <a:pt x="8066213" y="4550883"/>
                </a:lnTo>
                <a:lnTo>
                  <a:pt x="0" y="45508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3689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Radio Buttons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633346" y="2724085"/>
            <a:ext cx="3456819" cy="6254184"/>
          </a:xfrm>
          <a:custGeom>
            <a:avLst/>
            <a:gdLst/>
            <a:ahLst/>
            <a:cxnLst/>
            <a:rect l="l" t="t" r="r" b="b"/>
            <a:pathLst>
              <a:path w="3456819" h="6254184">
                <a:moveTo>
                  <a:pt x="0" y="0"/>
                </a:moveTo>
                <a:lnTo>
                  <a:pt x="3456820" y="0"/>
                </a:lnTo>
                <a:lnTo>
                  <a:pt x="3456820" y="6254184"/>
                </a:lnTo>
                <a:lnTo>
                  <a:pt x="0" y="62541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7106226" y="2724085"/>
            <a:ext cx="3485075" cy="6254184"/>
          </a:xfrm>
          <a:custGeom>
            <a:avLst/>
            <a:gdLst/>
            <a:ahLst/>
            <a:cxnLst/>
            <a:rect l="l" t="t" r="r" b="b"/>
            <a:pathLst>
              <a:path w="3485075" h="6254184">
                <a:moveTo>
                  <a:pt x="0" y="0"/>
                </a:moveTo>
                <a:lnTo>
                  <a:pt x="3485075" y="0"/>
                </a:lnTo>
                <a:lnTo>
                  <a:pt x="3485075" y="6254184"/>
                </a:lnTo>
                <a:lnTo>
                  <a:pt x="0" y="62541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12534178" y="2724085"/>
            <a:ext cx="3494368" cy="6254184"/>
          </a:xfrm>
          <a:custGeom>
            <a:avLst/>
            <a:gdLst/>
            <a:ahLst/>
            <a:cxnLst/>
            <a:rect l="l" t="t" r="r" b="b"/>
            <a:pathLst>
              <a:path w="3494368" h="6254184">
                <a:moveTo>
                  <a:pt x="0" y="0"/>
                </a:moveTo>
                <a:lnTo>
                  <a:pt x="3494368" y="0"/>
                </a:lnTo>
                <a:lnTo>
                  <a:pt x="3494368" y="6254184"/>
                </a:lnTo>
                <a:lnTo>
                  <a:pt x="0" y="62541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3658873" y="379832"/>
            <a:ext cx="10970254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Radio Buttons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3028" y="1569289"/>
            <a:ext cx="8403216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61" lvl="1" indent="-367031" algn="just">
              <a:lnSpc>
                <a:spcPts val="4760"/>
              </a:lnSpc>
              <a:buFont typeface="Arial"/>
              <a:buChar char="•"/>
            </a:pPr>
            <a:r>
              <a:rPr lang="en-US" sz="3400" spc="340">
                <a:solidFill>
                  <a:srgbClr val="000000"/>
                </a:solidFill>
                <a:latin typeface="Lato"/>
              </a:rPr>
              <a:t>Telas da aplicação: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7616506" y="4889528"/>
            <a:ext cx="3054987" cy="4606348"/>
          </a:xfrm>
          <a:custGeom>
            <a:avLst/>
            <a:gdLst/>
            <a:ahLst/>
            <a:cxnLst/>
            <a:rect l="l" t="t" r="r" b="b"/>
            <a:pathLst>
              <a:path w="3054987" h="4606348">
                <a:moveTo>
                  <a:pt x="0" y="0"/>
                </a:moveTo>
                <a:lnTo>
                  <a:pt x="3054988" y="0"/>
                </a:lnTo>
                <a:lnTo>
                  <a:pt x="3054988" y="4606348"/>
                </a:lnTo>
                <a:lnTo>
                  <a:pt x="0" y="46063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847623" y="405549"/>
            <a:ext cx="12592754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0"/>
              </a:lnSpc>
            </a:pPr>
            <a:r>
              <a:rPr lang="en-US" sz="5800" spc="290">
                <a:solidFill>
                  <a:srgbClr val="2B4A9D"/>
                </a:solidFill>
                <a:latin typeface="Poppins Ultra-Bold"/>
              </a:rPr>
              <a:t>DropdownButton (ComboBox)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7461" y="1831774"/>
            <a:ext cx="16637320" cy="2887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>
                <a:solidFill>
                  <a:srgbClr val="000000"/>
                </a:solidFill>
                <a:latin typeface="Lato"/>
              </a:rPr>
              <a:t>No Flutter, o DropdownButton é um widget que permite aos usuários selecionar uma opção de um menu suspenso. Ele é semelhante a uma caixa de combinação (combobox) em outras plataformas e é útil quando há um conjunto de opções disponíveis e apenas uma delas pode ser selecionada de cada vez.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847623" y="405549"/>
            <a:ext cx="12592754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0"/>
              </a:lnSpc>
            </a:pPr>
            <a:r>
              <a:rPr lang="en-US" sz="5800" spc="290">
                <a:solidFill>
                  <a:srgbClr val="2B4A9D"/>
                </a:solidFill>
                <a:latin typeface="Poppins Ultra-Bold"/>
              </a:rPr>
              <a:t>DropdownButton (ComboBox)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7461" y="1831774"/>
            <a:ext cx="16637320" cy="7445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Neste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 Bold"/>
              </a:rPr>
              <a:t>DropdownButton.dart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foi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criado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menu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suspenso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selecionar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diferentes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sabores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pizza e um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botão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"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Confirmar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" para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confirmar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seleção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Como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podemos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ver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no slide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seguinte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dentro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da </a:t>
            </a:r>
            <a:r>
              <a:rPr lang="en-US" sz="3200" spc="320" dirty="0">
                <a:solidFill>
                  <a:srgbClr val="000000"/>
                </a:solidFill>
                <a:latin typeface="Lato Semi-Bold"/>
              </a:rPr>
              <a:t>Column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há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200" spc="320" dirty="0">
                <a:solidFill>
                  <a:srgbClr val="000000"/>
                </a:solidFill>
                <a:latin typeface="Lato Semi-Bold"/>
              </a:rPr>
              <a:t>DropdownButton&lt;String&gt;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permite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selecionar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sabor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pizza. 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parâmetro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>
                <a:solidFill>
                  <a:srgbClr val="000000"/>
                </a:solidFill>
                <a:latin typeface="Lato Semi-Bold"/>
              </a:rPr>
              <a:t>value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controla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o valor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atualmente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selecionado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Assim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como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anteriormente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o </a:t>
            </a:r>
            <a:r>
              <a:rPr lang="en-US" sz="3200" spc="320" dirty="0" err="1">
                <a:solidFill>
                  <a:srgbClr val="000000"/>
                </a:solidFill>
                <a:latin typeface="Lato Semi-Bold"/>
              </a:rPr>
              <a:t>onChanged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é um callback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chamado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quando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seleciona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opção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diferente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no menu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suspenso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 Ele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atualiza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estado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variável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 Semi-Bold"/>
              </a:rPr>
              <a:t>saborPizza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usando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 Semi-Bold"/>
              </a:rPr>
              <a:t>setState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refletir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a nova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seleção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690882" lvl="1" indent="-345441" algn="just">
              <a:lnSpc>
                <a:spcPts val="4480"/>
              </a:lnSpc>
              <a:buFont typeface="Arial"/>
              <a:buChar char="•"/>
            </a:pPr>
            <a:r>
              <a:rPr lang="en-US" sz="3200" spc="320" dirty="0">
                <a:solidFill>
                  <a:srgbClr val="000000"/>
                </a:solidFill>
                <a:latin typeface="Lato"/>
              </a:rPr>
              <a:t>E o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parâmetro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>
                <a:solidFill>
                  <a:srgbClr val="000000"/>
                </a:solidFill>
                <a:latin typeface="Lato Semi-Bold"/>
              </a:rPr>
              <a:t>items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lista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opções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sabores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de pizza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representadas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como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 Semi-Bold"/>
              </a:rPr>
              <a:t>DropdownMenuItem</a:t>
            </a:r>
            <a:r>
              <a:rPr lang="en-US" sz="3200" spc="320" dirty="0">
                <a:solidFill>
                  <a:srgbClr val="000000"/>
                </a:solidFill>
                <a:latin typeface="Lato Semi-Bold"/>
              </a:rPr>
              <a:t>&lt;String&gt;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Sendo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cada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item é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renderizado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como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texto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dentro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 do menu </a:t>
            </a:r>
            <a:r>
              <a:rPr lang="en-US" sz="3200" spc="320" dirty="0" err="1">
                <a:solidFill>
                  <a:srgbClr val="000000"/>
                </a:solidFill>
                <a:latin typeface="Lato"/>
              </a:rPr>
              <a:t>suspenso</a:t>
            </a:r>
            <a:r>
              <a:rPr lang="en-US" sz="3200" spc="32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898743" y="598615"/>
            <a:ext cx="10490514" cy="8659685"/>
          </a:xfrm>
          <a:custGeom>
            <a:avLst/>
            <a:gdLst/>
            <a:ahLst/>
            <a:cxnLst/>
            <a:rect l="l" t="t" r="r" b="b"/>
            <a:pathLst>
              <a:path w="10490514" h="8659685">
                <a:moveTo>
                  <a:pt x="0" y="0"/>
                </a:moveTo>
                <a:lnTo>
                  <a:pt x="10490514" y="0"/>
                </a:lnTo>
                <a:lnTo>
                  <a:pt x="10490514" y="8659685"/>
                </a:lnTo>
                <a:lnTo>
                  <a:pt x="0" y="86596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2165554"/>
            <a:ext cx="3909067" cy="7067308"/>
          </a:xfrm>
          <a:custGeom>
            <a:avLst/>
            <a:gdLst/>
            <a:ahLst/>
            <a:cxnLst/>
            <a:rect l="l" t="t" r="r" b="b"/>
            <a:pathLst>
              <a:path w="3909067" h="7067308">
                <a:moveTo>
                  <a:pt x="0" y="0"/>
                </a:moveTo>
                <a:lnTo>
                  <a:pt x="3909067" y="0"/>
                </a:lnTo>
                <a:lnTo>
                  <a:pt x="3909067" y="7067307"/>
                </a:lnTo>
                <a:lnTo>
                  <a:pt x="0" y="70673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5280667" y="2165554"/>
            <a:ext cx="3907523" cy="7092746"/>
          </a:xfrm>
          <a:custGeom>
            <a:avLst/>
            <a:gdLst/>
            <a:ahLst/>
            <a:cxnLst/>
            <a:rect l="l" t="t" r="r" b="b"/>
            <a:pathLst>
              <a:path w="3907523" h="7092746">
                <a:moveTo>
                  <a:pt x="0" y="0"/>
                </a:moveTo>
                <a:lnTo>
                  <a:pt x="3907523" y="0"/>
                </a:lnTo>
                <a:lnTo>
                  <a:pt x="3907523" y="7092746"/>
                </a:lnTo>
                <a:lnTo>
                  <a:pt x="0" y="70927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Freeform 10"/>
          <p:cNvSpPr/>
          <p:nvPr/>
        </p:nvSpPr>
        <p:spPr>
          <a:xfrm>
            <a:off x="9526504" y="2154989"/>
            <a:ext cx="3979280" cy="7103311"/>
          </a:xfrm>
          <a:custGeom>
            <a:avLst/>
            <a:gdLst/>
            <a:ahLst/>
            <a:cxnLst/>
            <a:rect l="l" t="t" r="r" b="b"/>
            <a:pathLst>
              <a:path w="3979280" h="7103311">
                <a:moveTo>
                  <a:pt x="0" y="0"/>
                </a:moveTo>
                <a:lnTo>
                  <a:pt x="3979280" y="0"/>
                </a:lnTo>
                <a:lnTo>
                  <a:pt x="3979280" y="7103311"/>
                </a:lnTo>
                <a:lnTo>
                  <a:pt x="0" y="7103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1" name="TextBox 11"/>
          <p:cNvSpPr txBox="1"/>
          <p:nvPr/>
        </p:nvSpPr>
        <p:spPr>
          <a:xfrm>
            <a:off x="2847623" y="405549"/>
            <a:ext cx="12592754" cy="85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0"/>
              </a:lnSpc>
            </a:pPr>
            <a:r>
              <a:rPr lang="en-US" sz="5800" spc="290">
                <a:solidFill>
                  <a:srgbClr val="2B4A9D"/>
                </a:solidFill>
                <a:latin typeface="Poppins Ultra-Bold"/>
              </a:rPr>
              <a:t>DropdownButton (ComboBox)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3817766" y="4868679"/>
            <a:ext cx="10440441" cy="4553264"/>
          </a:xfrm>
          <a:custGeom>
            <a:avLst/>
            <a:gdLst/>
            <a:ahLst/>
            <a:cxnLst/>
            <a:rect l="l" t="t" r="r" b="b"/>
            <a:pathLst>
              <a:path w="10440441" h="4553264">
                <a:moveTo>
                  <a:pt x="0" y="0"/>
                </a:moveTo>
                <a:lnTo>
                  <a:pt x="10440441" y="0"/>
                </a:lnTo>
                <a:lnTo>
                  <a:pt x="10440441" y="4553263"/>
                </a:lnTo>
                <a:lnTo>
                  <a:pt x="0" y="45532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816673" y="1413644"/>
            <a:ext cx="16442627" cy="3190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Lato"/>
              </a:rPr>
              <a:t>O Scrollbar é usado para envolver um widget de rolagem, como </a:t>
            </a:r>
            <a:r>
              <a:rPr lang="en-US" sz="3000" spc="300">
                <a:solidFill>
                  <a:srgbClr val="000000"/>
                </a:solidFill>
                <a:latin typeface="Lato Bold"/>
              </a:rPr>
              <a:t>ListView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, </a:t>
            </a:r>
            <a:r>
              <a:rPr lang="en-US" sz="3000" spc="300">
                <a:solidFill>
                  <a:srgbClr val="000000"/>
                </a:solidFill>
                <a:latin typeface="Lato Bold"/>
              </a:rPr>
              <a:t>GridView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 ou </a:t>
            </a:r>
            <a:r>
              <a:rPr lang="en-US" sz="3000" spc="300">
                <a:solidFill>
                  <a:srgbClr val="000000"/>
                </a:solidFill>
                <a:latin typeface="Lato Bold"/>
              </a:rPr>
              <a:t>SingleChildScrollView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, para adicionar uma barra de rolagem ao seu conteúdo.</a:t>
            </a:r>
          </a:p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Lato"/>
              </a:rPr>
              <a:t>Para adicionar um Scrollbar a um widget é bastante simples, exigindo apenas que você envolva o widget com o Scrollbar e defina a propriedade controller, se desejar controlar manualmente o seu comportamento.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Scrollbar (Barra de rolagem)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031099" y="2451704"/>
            <a:ext cx="3308770" cy="5953774"/>
          </a:xfrm>
          <a:custGeom>
            <a:avLst/>
            <a:gdLst/>
            <a:ahLst/>
            <a:cxnLst/>
            <a:rect l="l" t="t" r="r" b="b"/>
            <a:pathLst>
              <a:path w="3308770" h="5953774">
                <a:moveTo>
                  <a:pt x="0" y="0"/>
                </a:moveTo>
                <a:lnTo>
                  <a:pt x="3308770" y="0"/>
                </a:lnTo>
                <a:lnTo>
                  <a:pt x="3308770" y="5953774"/>
                </a:lnTo>
                <a:lnTo>
                  <a:pt x="0" y="5953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13975431" y="2451704"/>
            <a:ext cx="3283869" cy="5970671"/>
          </a:xfrm>
          <a:custGeom>
            <a:avLst/>
            <a:gdLst/>
            <a:ahLst/>
            <a:cxnLst/>
            <a:rect l="l" t="t" r="r" b="b"/>
            <a:pathLst>
              <a:path w="3283869" h="5970671">
                <a:moveTo>
                  <a:pt x="0" y="0"/>
                </a:moveTo>
                <a:lnTo>
                  <a:pt x="3283869" y="0"/>
                </a:lnTo>
                <a:lnTo>
                  <a:pt x="3283869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TextBox 6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Scrollbar (Barra de rolagem)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6673" y="2213610"/>
            <a:ext cx="8578864" cy="5841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>
                <a:solidFill>
                  <a:srgbClr val="000000"/>
                </a:solidFill>
                <a:latin typeface="Lato"/>
              </a:rPr>
              <a:t>Neste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exemplo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300" spc="330" dirty="0" err="1">
                <a:solidFill>
                  <a:srgbClr val="000000"/>
                </a:solidFill>
                <a:latin typeface="Lato Bold"/>
              </a:rPr>
              <a:t>Scrollbar.dart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temos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interface simples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exibe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paleta de cores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usando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lista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rolável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 Cada item da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lista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mostra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cor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diferente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junto com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seu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nome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código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hexadecimal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correspondente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712472" lvl="1" indent="-356236" algn="just">
              <a:lnSpc>
                <a:spcPts val="4620"/>
              </a:lnSpc>
              <a:buFont typeface="Arial"/>
              <a:buChar char="•"/>
            </a:pPr>
            <a:r>
              <a:rPr lang="en-US" sz="3300" spc="330" dirty="0">
                <a:solidFill>
                  <a:srgbClr val="000000"/>
                </a:solidFill>
                <a:latin typeface="Lato"/>
              </a:rPr>
              <a:t>O Scrollbar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permite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role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facilmente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pela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lista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mesmo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quando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há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muitos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300" spc="330" dirty="0" err="1">
                <a:solidFill>
                  <a:srgbClr val="000000"/>
                </a:solidFill>
                <a:latin typeface="Lato"/>
              </a:rPr>
              <a:t>itens</a:t>
            </a:r>
            <a:r>
              <a:rPr lang="en-US" sz="3300" spc="33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Swipe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6673" y="1569289"/>
            <a:ext cx="16442627" cy="745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Lato"/>
              </a:rPr>
              <a:t>O swipe é uma interação comum em aplicativos móveis, ela se refere à ação de deslizar o dedo sobre a tela em uma direção específica e pode ser usada para várias finalidades, como navegar entre telas, rolar conteúdo, acionar ações e muito mais.</a:t>
            </a:r>
          </a:p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Lato"/>
              </a:rPr>
              <a:t>Formas de utilizar: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Lato Bold"/>
              </a:rPr>
              <a:t>GestureDetector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: Permite que envolva outros widgets e defina callbacks para diferentes tipos de gestos, incluindo onHorizontalDragStart, onHorizontalDragUpdate, onHorizontalDragEnd, onVerticalDragStart, onVerticalDragUpdate e onVerticalDragEnd, dependendo da direção do swipe desejada.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Lato Bold"/>
              </a:rPr>
              <a:t>Dismissible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: O widget Dismissible é usado para implementar ação de swipe para excluir ou deslizar itens em listas ou grades. Ele fornece uma maneira fácil de implementar a interação de swipe para remover itens da interface do usuário.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Swipe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6673" y="2614623"/>
            <a:ext cx="16442627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Lato Bold"/>
              </a:rPr>
              <a:t>PageView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: O widget PageView é usado para criar um conjunto de páginas roláveis, onde o usuário pode navegar deslizando para a esquerda ou para a direita. É comumente usado para criar interfaces de carrossel ou guias em aplicativos.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spc="300">
                <a:solidFill>
                  <a:srgbClr val="000000"/>
                </a:solidFill>
                <a:latin typeface="Lato Bold"/>
              </a:rPr>
              <a:t>BottomNavigationBar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: O BottomNavigationBar pode ser combinado com um PageView para criar uma navegação por guias em que o usuário pode alternar entre telas deslizando horizontalmente.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4458353" y="4775334"/>
            <a:ext cx="9371294" cy="4727608"/>
          </a:xfrm>
          <a:custGeom>
            <a:avLst/>
            <a:gdLst/>
            <a:ahLst/>
            <a:cxnLst/>
            <a:rect l="l" t="t" r="r" b="b"/>
            <a:pathLst>
              <a:path w="9371294" h="4727608">
                <a:moveTo>
                  <a:pt x="0" y="0"/>
                </a:moveTo>
                <a:lnTo>
                  <a:pt x="9371294" y="0"/>
                </a:lnTo>
                <a:lnTo>
                  <a:pt x="9371294" y="4727608"/>
                </a:lnTo>
                <a:lnTo>
                  <a:pt x="0" y="472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Swipe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6673" y="1925653"/>
            <a:ext cx="16442627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Lato"/>
              </a:rPr>
              <a:t>No exemplo </a:t>
            </a:r>
            <a:r>
              <a:rPr lang="en-US" sz="3000" spc="300">
                <a:solidFill>
                  <a:srgbClr val="000000"/>
                </a:solidFill>
                <a:latin typeface="Lato Bold"/>
              </a:rPr>
              <a:t>Swipe.dart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,  cada item da lista é envolvido em um </a:t>
            </a:r>
            <a:r>
              <a:rPr lang="en-US" sz="3000" spc="300">
                <a:solidFill>
                  <a:srgbClr val="000000"/>
                </a:solidFill>
                <a:latin typeface="Lato Bold"/>
              </a:rPr>
              <a:t>Dismissible</a:t>
            </a:r>
            <a:r>
              <a:rPr lang="en-US" sz="3000" spc="300">
                <a:solidFill>
                  <a:srgbClr val="000000"/>
                </a:solidFill>
                <a:latin typeface="Lato"/>
              </a:rPr>
              <a:t>, o que permite que o usuário remova um item deslizando-o para fora da tela.</a:t>
            </a:r>
          </a:p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>
                <a:solidFill>
                  <a:srgbClr val="000000"/>
                </a:solidFill>
                <a:latin typeface="Lato"/>
              </a:rPr>
              <a:t>O onDismissed é chamado quando o item é removido, atualizando o estado do widget para refletir a mudança na lista de itens e exibindo um SnackBar informando ao usuário sobre a remoção do item.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" name="Group 4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6" name="Group 6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Freeform 8"/>
          <p:cNvSpPr/>
          <p:nvPr/>
        </p:nvSpPr>
        <p:spPr>
          <a:xfrm>
            <a:off x="8249289" y="2144923"/>
            <a:ext cx="3953334" cy="7089566"/>
          </a:xfrm>
          <a:custGeom>
            <a:avLst/>
            <a:gdLst/>
            <a:ahLst/>
            <a:cxnLst/>
            <a:rect l="l" t="t" r="r" b="b"/>
            <a:pathLst>
              <a:path w="3953334" h="7089566">
                <a:moveTo>
                  <a:pt x="0" y="0"/>
                </a:moveTo>
                <a:lnTo>
                  <a:pt x="3953334" y="0"/>
                </a:lnTo>
                <a:lnTo>
                  <a:pt x="3953334" y="7089566"/>
                </a:lnTo>
                <a:lnTo>
                  <a:pt x="0" y="70895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9" name="Freeform 9"/>
          <p:cNvSpPr/>
          <p:nvPr/>
        </p:nvSpPr>
        <p:spPr>
          <a:xfrm>
            <a:off x="2847623" y="2144923"/>
            <a:ext cx="3959210" cy="7113377"/>
          </a:xfrm>
          <a:custGeom>
            <a:avLst/>
            <a:gdLst/>
            <a:ahLst/>
            <a:cxnLst/>
            <a:rect l="l" t="t" r="r" b="b"/>
            <a:pathLst>
              <a:path w="3959210" h="7113377">
                <a:moveTo>
                  <a:pt x="0" y="0"/>
                </a:moveTo>
                <a:lnTo>
                  <a:pt x="3959210" y="0"/>
                </a:lnTo>
                <a:lnTo>
                  <a:pt x="3959210" y="7113377"/>
                </a:lnTo>
                <a:lnTo>
                  <a:pt x="0" y="71133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78"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10" name="TextBox 10"/>
          <p:cNvSpPr txBox="1"/>
          <p:nvPr/>
        </p:nvSpPr>
        <p:spPr>
          <a:xfrm>
            <a:off x="2506630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Swipe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Drag and Drop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6673" y="1569289"/>
            <a:ext cx="16442627" cy="745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 dirty="0">
                <a:solidFill>
                  <a:srgbClr val="000000"/>
                </a:solidFill>
                <a:latin typeface="Lato"/>
              </a:rPr>
              <a:t>O "drag and drop" (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soltar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) é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técnica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interativa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permite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usuários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objetos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na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tela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soltá-los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posição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específica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Isso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pode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ser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útil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variedade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cenários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desde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reorganizar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elementos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lista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até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criar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interface de design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intuitiva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647703" lvl="1" indent="-323852" algn="just">
              <a:lnSpc>
                <a:spcPts val="4200"/>
              </a:lnSpc>
              <a:buFont typeface="Arial"/>
              <a:buChar char="•"/>
            </a:pPr>
            <a:r>
              <a:rPr lang="en-US" sz="3000" spc="300" dirty="0">
                <a:solidFill>
                  <a:srgbClr val="000000"/>
                </a:solidFill>
                <a:latin typeface="Lato"/>
              </a:rPr>
              <a:t>Como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utilizar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: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b="1" spc="300" dirty="0" err="1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GestureDetector</a:t>
            </a: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Detecta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gestos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de toque,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como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soltar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 Ele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oferece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callbacks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como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 Semi-Bold"/>
              </a:rPr>
              <a:t>onPanStart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000" spc="300" dirty="0" err="1">
                <a:solidFill>
                  <a:srgbClr val="000000"/>
                </a:solidFill>
                <a:latin typeface="Lato Semi-Bold"/>
              </a:rPr>
              <a:t>onPanUpdate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3000" spc="300" dirty="0" err="1">
                <a:solidFill>
                  <a:srgbClr val="000000"/>
                </a:solidFill>
                <a:latin typeface="Lato Semi-Bold"/>
              </a:rPr>
              <a:t>onPanEnd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para lidar com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eventos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Draggable: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Permite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o widget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seja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pela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tela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quando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pressiona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segura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b="1" spc="300" dirty="0" err="1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DragTarget</a:t>
            </a: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Envolve o widget de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destino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com o widget </a:t>
            </a:r>
            <a:r>
              <a:rPr lang="en-US" sz="3000" spc="300" dirty="0" err="1">
                <a:solidFill>
                  <a:srgbClr val="000000"/>
                </a:solidFill>
                <a:latin typeface="Lato Semi-Bold"/>
              </a:rPr>
              <a:t>DragTarget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 Este widget define a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área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onde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itens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podem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ser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soltos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 Ele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fornece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callbacks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como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 Semi-Bold"/>
              </a:rPr>
              <a:t>onWillAccept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000" spc="300" dirty="0" err="1">
                <a:solidFill>
                  <a:srgbClr val="000000"/>
                </a:solidFill>
                <a:latin typeface="Lato Semi-Bold"/>
              </a:rPr>
              <a:t>onAccept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para lidar com a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lógica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aceitação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dos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itens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Drag and Drop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16673" y="2020683"/>
            <a:ext cx="16442627" cy="5857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Data: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Ao usar </a:t>
            </a:r>
            <a:r>
              <a:rPr lang="en-US" sz="3000" spc="300" dirty="0">
                <a:solidFill>
                  <a:srgbClr val="000000"/>
                </a:solidFill>
                <a:latin typeface="Lato Semi-Bold"/>
              </a:rPr>
              <a:t>Draggable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, é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possível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passar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um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objeto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de dados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associado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item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usando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a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propriedade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>
                <a:solidFill>
                  <a:srgbClr val="000000"/>
                </a:solidFill>
                <a:latin typeface="Lato Semi-Bold"/>
              </a:rPr>
              <a:t>data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 Este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objeto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pode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conter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informações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relevantes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sobre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o item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sendo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Feedback </a:t>
            </a:r>
            <a:r>
              <a:rPr lang="en-US" sz="3000" b="1" spc="300" dirty="0" err="1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durante</a:t>
            </a: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o </a:t>
            </a:r>
            <a:r>
              <a:rPr lang="en-US" sz="3000" b="1" spc="300" dirty="0" err="1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arrasto</a:t>
            </a: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Durante 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de um item, é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possível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fornecer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feedback visual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indicar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o item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está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sendo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Isso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geralmente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feito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definindo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a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propriedade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>
                <a:solidFill>
                  <a:srgbClr val="000000"/>
                </a:solidFill>
                <a:latin typeface="Lato Semi-Bold"/>
              </a:rPr>
              <a:t>feedback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em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>
                <a:solidFill>
                  <a:srgbClr val="000000"/>
                </a:solidFill>
                <a:latin typeface="Lato Semi-Bold"/>
              </a:rPr>
              <a:t>Draggable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1295406" lvl="2" indent="-431802" algn="just">
              <a:lnSpc>
                <a:spcPts val="4200"/>
              </a:lnSpc>
              <a:buFont typeface="Arial"/>
              <a:buChar char="⚬"/>
            </a:pP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Controle de </a:t>
            </a:r>
            <a:r>
              <a:rPr lang="en-US" sz="3000" b="1" spc="300" dirty="0" err="1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estado</a:t>
            </a:r>
            <a:r>
              <a:rPr lang="en-US" sz="3000" b="1" spc="300" dirty="0">
                <a:solidFill>
                  <a:srgbClr val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Use o </a:t>
            </a:r>
            <a:r>
              <a:rPr lang="en-US" sz="3000" spc="300" dirty="0" err="1">
                <a:solidFill>
                  <a:srgbClr val="000000"/>
                </a:solidFill>
                <a:latin typeface="Lato Semi-Bold"/>
              </a:rPr>
              <a:t>StatefulWidget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controlar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estado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dos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itens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sendo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do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destino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do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soltar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Isso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geralmente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envolve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atualizar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estado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quando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itens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são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arrastados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ou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soltos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refletir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essas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mudanças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na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 interface do </a:t>
            </a:r>
            <a:r>
              <a:rPr lang="en-US" sz="3000" spc="300" dirty="0" err="1">
                <a:solidFill>
                  <a:srgbClr val="000000"/>
                </a:solidFill>
                <a:latin typeface="Lato"/>
              </a:rPr>
              <a:t>usuário</a:t>
            </a:r>
            <a:r>
              <a:rPr lang="en-US" sz="3000" spc="30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10665606" y="3412693"/>
            <a:ext cx="6593694" cy="5404420"/>
          </a:xfrm>
          <a:custGeom>
            <a:avLst/>
            <a:gdLst/>
            <a:ahLst/>
            <a:cxnLst/>
            <a:rect l="l" t="t" r="r" b="b"/>
            <a:pathLst>
              <a:path w="6593694" h="5404420">
                <a:moveTo>
                  <a:pt x="0" y="0"/>
                </a:moveTo>
                <a:lnTo>
                  <a:pt x="6593694" y="0"/>
                </a:lnTo>
                <a:lnTo>
                  <a:pt x="6593694" y="5404421"/>
                </a:lnTo>
                <a:lnTo>
                  <a:pt x="0" y="5404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Drag and Drop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6673" y="1578814"/>
            <a:ext cx="16442627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6114" lvl="1" indent="-313057" algn="just">
              <a:lnSpc>
                <a:spcPts val="4060"/>
              </a:lnSpc>
              <a:buFont typeface="Arial"/>
              <a:buChar char="•"/>
            </a:pPr>
            <a:r>
              <a:rPr lang="en-US" sz="2900" spc="290">
                <a:solidFill>
                  <a:srgbClr val="000000"/>
                </a:solidFill>
                <a:latin typeface="Lato"/>
              </a:rPr>
              <a:t>No exemplo </a:t>
            </a:r>
            <a:r>
              <a:rPr lang="en-US" sz="2900" spc="290">
                <a:solidFill>
                  <a:srgbClr val="000000"/>
                </a:solidFill>
                <a:latin typeface="Lato Bold"/>
              </a:rPr>
              <a:t>DragAndDrop.dart</a:t>
            </a:r>
            <a:r>
              <a:rPr lang="en-US" sz="2900" spc="290">
                <a:solidFill>
                  <a:srgbClr val="000000"/>
                </a:solidFill>
                <a:latin typeface="Lato"/>
              </a:rPr>
              <a:t>, temos uma interface onde o usuário pode arrastar itens coloridos para uma área de destino. Quando um item é solto na área de destino, a cor desse item é exibida nessa área.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6673" y="3346018"/>
            <a:ext cx="9434138" cy="1976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4" lvl="1" indent="-302262" algn="just">
              <a:lnSpc>
                <a:spcPts val="3920"/>
              </a:lnSpc>
              <a:buFont typeface="Arial"/>
              <a:buChar char="•"/>
            </a:pPr>
            <a:r>
              <a:rPr lang="en-US" sz="2800" spc="280">
                <a:solidFill>
                  <a:srgbClr val="000000"/>
                </a:solidFill>
                <a:latin typeface="Lato"/>
              </a:rPr>
              <a:t>Cada </a:t>
            </a:r>
            <a:r>
              <a:rPr lang="en-US" sz="2800" spc="280">
                <a:solidFill>
                  <a:srgbClr val="000000"/>
                </a:solidFill>
                <a:latin typeface="Lato Bold"/>
              </a:rPr>
              <a:t>Draggable</a:t>
            </a:r>
            <a:r>
              <a:rPr lang="en-US" sz="2800" spc="280">
                <a:solidFill>
                  <a:srgbClr val="000000"/>
                </a:solidFill>
                <a:latin typeface="Lato"/>
              </a:rPr>
              <a:t>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representa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um item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arrastável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com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uma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cor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específica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. Eles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têm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um child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exibido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normalmente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e um </a:t>
            </a:r>
            <a:r>
              <a:rPr lang="en-US" sz="2800" spc="280" dirty="0">
                <a:solidFill>
                  <a:srgbClr val="000000"/>
                </a:solidFill>
                <a:latin typeface="Lato Bold"/>
              </a:rPr>
              <a:t>feedback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que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é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exibido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durante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2800" spc="280" dirty="0" err="1">
                <a:solidFill>
                  <a:srgbClr val="000000"/>
                </a:solidFill>
                <a:latin typeface="Lato"/>
              </a:rPr>
              <a:t>arrasto</a:t>
            </a:r>
            <a:r>
              <a:rPr lang="en-US" sz="2800" spc="280" dirty="0">
                <a:solidFill>
                  <a:srgbClr val="000000"/>
                </a:solidFill>
                <a:latin typeface="Lato"/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8096991" y="3390316"/>
            <a:ext cx="9847419" cy="5486419"/>
          </a:xfrm>
          <a:custGeom>
            <a:avLst/>
            <a:gdLst/>
            <a:ahLst/>
            <a:cxnLst/>
            <a:rect l="l" t="t" r="r" b="b"/>
            <a:pathLst>
              <a:path w="9847419" h="5486419">
                <a:moveTo>
                  <a:pt x="0" y="0"/>
                </a:moveTo>
                <a:lnTo>
                  <a:pt x="9847420" y="0"/>
                </a:lnTo>
                <a:lnTo>
                  <a:pt x="9847420" y="5486419"/>
                </a:lnTo>
                <a:lnTo>
                  <a:pt x="0" y="5486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Drag and Drop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5218" y="3333166"/>
            <a:ext cx="7794864" cy="42748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65870" lvl="2" indent="-388623" algn="just">
              <a:lnSpc>
                <a:spcPts val="3780"/>
              </a:lnSpc>
              <a:buFont typeface="Arial"/>
              <a:buChar char="⚬"/>
            </a:pPr>
            <a:r>
              <a:rPr lang="en-US" sz="2700" spc="270" dirty="0" err="1">
                <a:solidFill>
                  <a:srgbClr val="000000"/>
                </a:solidFill>
                <a:latin typeface="Lato Bold"/>
              </a:rPr>
              <a:t>onAccept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Atualiza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estado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caughtColor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com a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cor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do item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arrastado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e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solto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.</a:t>
            </a:r>
          </a:p>
          <a:p>
            <a:pPr marL="1165870" lvl="2" indent="-388623" algn="just">
              <a:lnSpc>
                <a:spcPts val="3780"/>
              </a:lnSpc>
              <a:buFont typeface="Arial"/>
              <a:buChar char="⚬"/>
            </a:pPr>
            <a:r>
              <a:rPr lang="en-US" sz="2700" spc="270" dirty="0">
                <a:solidFill>
                  <a:srgbClr val="000000"/>
                </a:solidFill>
                <a:latin typeface="Lato Bold"/>
              </a:rPr>
              <a:t>builder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: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Constrói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a interface do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alvo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. Se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não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houver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itens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arrastáveis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aceitos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, o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alvo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exibirá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texto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"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Arraste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aqui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!". Caso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contrário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,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exibirá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o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texto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"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Solte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 para </a:t>
            </a:r>
            <a:r>
              <a:rPr lang="en-US" sz="2700" spc="270" dirty="0" err="1">
                <a:solidFill>
                  <a:srgbClr val="000000"/>
                </a:solidFill>
                <a:latin typeface="Lato"/>
              </a:rPr>
              <a:t>colorir</a:t>
            </a:r>
            <a:r>
              <a:rPr lang="en-US" sz="2700" spc="270" dirty="0">
                <a:solidFill>
                  <a:srgbClr val="000000"/>
                </a:solidFill>
                <a:latin typeface="Lato"/>
              </a:rPr>
              <a:t>!".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1521" y="1739075"/>
            <a:ext cx="16917779" cy="1481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4" lvl="1" indent="-302262" algn="just">
              <a:lnSpc>
                <a:spcPts val="3920"/>
              </a:lnSpc>
              <a:buFont typeface="Arial"/>
              <a:buChar char="•"/>
            </a:pPr>
            <a:r>
              <a:rPr lang="en-US" sz="2800" spc="280">
                <a:solidFill>
                  <a:srgbClr val="000000"/>
                </a:solidFill>
                <a:latin typeface="Lato Bold"/>
              </a:rPr>
              <a:t>DragTarget</a:t>
            </a:r>
            <a:r>
              <a:rPr lang="en-US" sz="2800" spc="280">
                <a:solidFill>
                  <a:srgbClr val="000000"/>
                </a:solidFill>
                <a:latin typeface="Lato"/>
              </a:rPr>
              <a:t>: É o widget que define a área onde os itens arrastáveis podem ser soltos. Ele tem um callback onAccept que é chamado quando um item é solto com sucesso no alvo. Ele também tem um builder que é usado para construir a interface do alvo.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4" name="Freeform 4"/>
          <p:cNvSpPr/>
          <p:nvPr/>
        </p:nvSpPr>
        <p:spPr>
          <a:xfrm>
            <a:off x="816673" y="2570141"/>
            <a:ext cx="3463234" cy="6225323"/>
          </a:xfrm>
          <a:custGeom>
            <a:avLst/>
            <a:gdLst/>
            <a:ahLst/>
            <a:cxnLst/>
            <a:rect l="l" t="t" r="r" b="b"/>
            <a:pathLst>
              <a:path w="3463234" h="6225323">
                <a:moveTo>
                  <a:pt x="0" y="0"/>
                </a:moveTo>
                <a:lnTo>
                  <a:pt x="3463235" y="0"/>
                </a:lnTo>
                <a:lnTo>
                  <a:pt x="3463235" y="6225323"/>
                </a:lnTo>
                <a:lnTo>
                  <a:pt x="0" y="62253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5" name="Freeform 5"/>
          <p:cNvSpPr/>
          <p:nvPr/>
        </p:nvSpPr>
        <p:spPr>
          <a:xfrm>
            <a:off x="5151549" y="2572273"/>
            <a:ext cx="3404139" cy="6223191"/>
          </a:xfrm>
          <a:custGeom>
            <a:avLst/>
            <a:gdLst/>
            <a:ahLst/>
            <a:cxnLst/>
            <a:rect l="l" t="t" r="r" b="b"/>
            <a:pathLst>
              <a:path w="3404139" h="6223191">
                <a:moveTo>
                  <a:pt x="0" y="0"/>
                </a:moveTo>
                <a:lnTo>
                  <a:pt x="3404139" y="0"/>
                </a:lnTo>
                <a:lnTo>
                  <a:pt x="3404139" y="6223191"/>
                </a:lnTo>
                <a:lnTo>
                  <a:pt x="0" y="62231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6" name="Freeform 6"/>
          <p:cNvSpPr/>
          <p:nvPr/>
        </p:nvSpPr>
        <p:spPr>
          <a:xfrm>
            <a:off x="9429975" y="2561626"/>
            <a:ext cx="3460892" cy="6233839"/>
          </a:xfrm>
          <a:custGeom>
            <a:avLst/>
            <a:gdLst/>
            <a:ahLst/>
            <a:cxnLst/>
            <a:rect l="l" t="t" r="r" b="b"/>
            <a:pathLst>
              <a:path w="3460892" h="6233839">
                <a:moveTo>
                  <a:pt x="0" y="0"/>
                </a:moveTo>
                <a:lnTo>
                  <a:pt x="3460891" y="0"/>
                </a:lnTo>
                <a:lnTo>
                  <a:pt x="3460891" y="6233838"/>
                </a:lnTo>
                <a:lnTo>
                  <a:pt x="0" y="6233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sp>
        <p:nvSpPr>
          <p:cNvPr id="7" name="TextBox 7"/>
          <p:cNvSpPr txBox="1"/>
          <p:nvPr/>
        </p:nvSpPr>
        <p:spPr>
          <a:xfrm>
            <a:off x="2791721" y="379832"/>
            <a:ext cx="12704558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Drag and Drop</a:t>
            </a:r>
          </a:p>
        </p:txBody>
      </p:sp>
      <p:grpSp>
        <p:nvGrpSpPr>
          <p:cNvPr id="8" name="Group 8"/>
          <p:cNvGrpSpPr/>
          <p:nvPr/>
        </p:nvGrpSpPr>
        <p:grpSpPr>
          <a:xfrm rot="-2700000">
            <a:off x="15004959" y="1860459"/>
            <a:ext cx="6566081" cy="6566081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5271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10"/>
          <p:cNvGrpSpPr/>
          <p:nvPr/>
        </p:nvGrpSpPr>
        <p:grpSpPr>
          <a:xfrm rot="2700000">
            <a:off x="15361560" y="2217060"/>
            <a:ext cx="5852880" cy="5852880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16086" y="379832"/>
            <a:ext cx="8855829" cy="895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2B4A9D"/>
                </a:solidFill>
                <a:latin typeface="Poppins Ultra-Bold"/>
              </a:rPr>
              <a:t>Referências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6673" y="1687967"/>
            <a:ext cx="16442627" cy="3204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27"/>
              </a:lnSpc>
            </a:pPr>
            <a:r>
              <a:rPr lang="en-US" sz="2799" spc="139" dirty="0">
                <a:solidFill>
                  <a:srgbClr val="000000"/>
                </a:solidFill>
                <a:latin typeface="Poppins Bold"/>
              </a:rPr>
              <a:t>Building user interfaces with Flutter.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Disponível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&lt;https://docs.flutter.dev/ui&gt;.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Acesso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05 abr. 2024.</a:t>
            </a:r>
          </a:p>
          <a:p>
            <a:pPr algn="just">
              <a:lnSpc>
                <a:spcPts val="4227"/>
              </a:lnSpc>
            </a:pPr>
            <a:endParaRPr lang="en-US" sz="2799" spc="139" dirty="0">
              <a:solidFill>
                <a:srgbClr val="000000"/>
              </a:solidFill>
              <a:latin typeface="Poppins"/>
            </a:endParaRPr>
          </a:p>
          <a:p>
            <a:pPr algn="just">
              <a:lnSpc>
                <a:spcPts val="4227"/>
              </a:lnSpc>
            </a:pPr>
            <a:r>
              <a:rPr lang="en-US" sz="2799" spc="139" dirty="0">
                <a:solidFill>
                  <a:srgbClr val="000000"/>
                </a:solidFill>
                <a:latin typeface="Poppins Bold"/>
              </a:rPr>
              <a:t>An in-depth dive into implementing swipe-to-dismiss in Flutter.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Disponível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&lt;https://medium.com/flutter-community/an-in-depth-dive-into-implementing-swipe-to-dismiss-in-flutter-41b9007f1e0&gt;.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Acesso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sz="2799" spc="139" dirty="0" err="1">
                <a:solidFill>
                  <a:srgbClr val="000000"/>
                </a:solidFill>
                <a:latin typeface="Poppins"/>
              </a:rPr>
              <a:t>em</a:t>
            </a:r>
            <a:r>
              <a:rPr lang="en-US" sz="2799" spc="139" dirty="0">
                <a:solidFill>
                  <a:srgbClr val="000000"/>
                </a:solidFill>
                <a:latin typeface="Poppins"/>
              </a:rPr>
              <a:t>: 14 abr. 2024.</a:t>
            </a:r>
          </a:p>
        </p:txBody>
      </p: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2B4A9D"/>
            </a:solidFill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1479</Words>
  <Application>Microsoft Office PowerPoint</Application>
  <PresentationFormat>Personalizar</PresentationFormat>
  <Paragraphs>79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4" baseType="lpstr">
      <vt:lpstr>Arial</vt:lpstr>
      <vt:lpstr>Lato</vt:lpstr>
      <vt:lpstr>Lato Semi-Bold</vt:lpstr>
      <vt:lpstr>Poppins Ultra-Bold</vt:lpstr>
      <vt:lpstr>Lato Bold</vt:lpstr>
      <vt:lpstr>Poppins</vt:lpstr>
      <vt:lpstr>Poppins 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Aula14-Componentes de Formulários</dc:title>
  <cp:lastModifiedBy>Paulo Vítor</cp:lastModifiedBy>
  <cp:revision>4</cp:revision>
  <dcterms:created xsi:type="dcterms:W3CDTF">2006-08-16T00:00:00Z</dcterms:created>
  <dcterms:modified xsi:type="dcterms:W3CDTF">2025-11-25T02:05:18Z</dcterms:modified>
  <dc:identifier>DAF-XfFka0w</dc:identifier>
</cp:coreProperties>
</file>