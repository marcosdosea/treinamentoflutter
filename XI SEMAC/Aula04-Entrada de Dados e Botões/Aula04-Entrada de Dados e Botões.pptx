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Lato Bold" panose="020F0502020204030203" charset="0"/>
      <p:regular r:id="rId16"/>
      <p:bold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Bold" panose="00000800000000000000" charset="0"/>
      <p:regular r:id="rId22"/>
      <p:bold r:id="rId23"/>
    </p:embeddedFont>
    <p:embeddedFont>
      <p:font typeface="Poppins Ultra-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10D7A-2B0E-4BFE-BDBF-608A71381231}" v="80" dt="2024-03-31T17:48:09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151" y="4093288"/>
            <a:ext cx="12616379" cy="2524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451"/>
              </a:lnSpc>
            </a:pPr>
            <a:r>
              <a:rPr lang="en-US" sz="9001" spc="450">
                <a:solidFill>
                  <a:srgbClr val="2B4A9D"/>
                </a:solidFill>
                <a:latin typeface="Poppins Bold"/>
              </a:rPr>
              <a:t>Botões e entrada de dados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151" y="7260387"/>
            <a:ext cx="12616379" cy="3033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200" spc="320">
                <a:solidFill>
                  <a:srgbClr val="000000"/>
                </a:solidFill>
                <a:latin typeface="Lato"/>
              </a:rPr>
              <a:t>: </a:t>
            </a:r>
          </a:p>
          <a:p>
            <a:pPr>
              <a:lnSpc>
                <a:spcPts val="4900"/>
              </a:lnSpc>
            </a:pPr>
            <a:r>
              <a:rPr lang="en-US" sz="3200" spc="350">
                <a:solidFill>
                  <a:srgbClr val="000000"/>
                </a:solidFill>
                <a:latin typeface="Lato"/>
              </a:rPr>
              <a:t>Paulo Vitor</a:t>
            </a:r>
            <a:endParaRPr lang="en-US" sz="3200" spc="350" dirty="0">
              <a:solidFill>
                <a:srgbClr val="000000"/>
              </a:solidFill>
              <a:latin typeface="Lato"/>
            </a:endParaRPr>
          </a:p>
          <a:p>
            <a:pPr>
              <a:lnSpc>
                <a:spcPts val="4900"/>
              </a:lnSpc>
            </a:pPr>
            <a:r>
              <a:rPr lang="en-US" sz="3200" spc="35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200" spc="350" dirty="0">
                <a:solidFill>
                  <a:srgbClr val="000000"/>
                </a:solidFill>
                <a:latin typeface="Lato"/>
              </a:rPr>
              <a:t> Vasconcelos</a:t>
            </a:r>
          </a:p>
          <a:p>
            <a:pPr>
              <a:lnSpc>
                <a:spcPts val="4900"/>
              </a:lnSpc>
            </a:pPr>
            <a:r>
              <a:rPr lang="en-US" sz="3200" spc="350" dirty="0">
                <a:solidFill>
                  <a:srgbClr val="000000"/>
                </a:solidFill>
                <a:latin typeface="Lato"/>
              </a:rPr>
              <a:t>João Hungria</a:t>
            </a:r>
          </a:p>
          <a:p>
            <a:pPr>
              <a:lnSpc>
                <a:spcPts val="4480"/>
              </a:lnSpc>
            </a:pPr>
            <a:endParaRPr lang="en-US" sz="3200" spc="320" dirty="0">
              <a:solidFill>
                <a:srgbClr val="000000"/>
              </a:solidFill>
              <a:latin typeface="Lato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554884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568482" y="3884156"/>
            <a:ext cx="829509" cy="1966473"/>
            <a:chOff x="0" y="0"/>
            <a:chExt cx="2354580" cy="55818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568482" y="5213428"/>
            <a:ext cx="829509" cy="1966473"/>
            <a:chOff x="0" y="0"/>
            <a:chExt cx="2354580" cy="55818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123218" y="3176705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Introdução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23218" y="4526080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Criação de botões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23218" y="5855352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Entrada de 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Introdução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452" y="4971244"/>
            <a:ext cx="17259300" cy="184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>
                <a:solidFill>
                  <a:srgbClr val="000000"/>
                </a:solidFill>
                <a:latin typeface="+mj-lt"/>
              </a:rPr>
              <a:t>Dessa forma,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os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botões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são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widgets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responsáveis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acionar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ações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quando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pressionados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enquanto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a entrada de dados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pode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ser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realizada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meio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de campos de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texto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seleção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de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itens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em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listas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, entre outros.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5452" y="2831962"/>
            <a:ext cx="17259300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>
                <a:solidFill>
                  <a:srgbClr val="000000"/>
                </a:solidFill>
                <a:latin typeface="Lato"/>
              </a:rPr>
              <a:t>A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criação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botões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e a entrada de dados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são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elementos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fundamentais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tornar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aplicativos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mais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dinâmicos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interativos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Criando botões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" y="2818804"/>
            <a:ext cx="9791303" cy="4360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>
                <a:solidFill>
                  <a:srgbClr val="000000"/>
                </a:solidFill>
                <a:latin typeface="+mj-lt"/>
              </a:rPr>
              <a:t>Na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classe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gerenciar_categorias_sheet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criaremos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um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botão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para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adicionar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uma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nova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categoria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Usando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o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método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_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mostraAdicionarCategoria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que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ficará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responsável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toda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lógica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da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criação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e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exibição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de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uma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nova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categoria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3C6BFF0-B06C-A9E6-A10E-5B4A1113C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619500"/>
            <a:ext cx="7326385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2016125"/>
            <a:ext cx="9372327" cy="6222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>
                <a:solidFill>
                  <a:srgbClr val="000000"/>
                </a:solidFill>
                <a:latin typeface="+mj-lt"/>
              </a:rPr>
              <a:t>Por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fim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, no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cabeçalho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da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classe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gerenciar_categorias_sheet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adicionaremos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o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botão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responsável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criar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uma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nova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categoria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Faremos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isso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agrupando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ambos o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botão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no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arquivo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aula04_criando_botoes junto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botão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de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fechar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usando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o Widget Row,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permitindo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organizer ambos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os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botões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lado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lado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5DED4F9-FCA2-2DDD-E57D-C5EDA31B1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0" y="419100"/>
            <a:ext cx="4114800" cy="88421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559764"/>
            <a:ext cx="6572781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spc="350">
                <a:solidFill>
                  <a:srgbClr val="000000"/>
                </a:solidFill>
                <a:latin typeface="Lato Bold"/>
              </a:rPr>
              <a:t>Resultado esperado: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1455" y="2678257"/>
            <a:ext cx="10102745" cy="2425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4220" lvl="1" indent="-372110" algn="just">
              <a:lnSpc>
                <a:spcPts val="4826"/>
              </a:lnSpc>
              <a:buFont typeface="Arial"/>
              <a:buChar char="•"/>
            </a:pPr>
            <a:r>
              <a:rPr lang="en-US" sz="3500" spc="344" dirty="0">
                <a:solidFill>
                  <a:srgbClr val="000000"/>
                </a:solidFill>
                <a:latin typeface="+mj-lt"/>
              </a:rPr>
              <a:t>Agora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temos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o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botão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para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criar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uma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nova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categoria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disponível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na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tela</a:t>
            </a:r>
            <a:r>
              <a:rPr lang="pt-BR" sz="3500" spc="344" dirty="0">
                <a:solidFill>
                  <a:srgbClr val="000000"/>
                </a:solidFill>
                <a:latin typeface="+mj-lt"/>
              </a:rPr>
              <a:t>.</a:t>
            </a:r>
            <a:endParaRPr lang="pt-BR" sz="3500" dirty="0">
              <a:latin typeface="+mj-lt"/>
            </a:endParaRPr>
          </a:p>
          <a:p>
            <a:pPr marL="744220" lvl="1" indent="-372110" algn="just">
              <a:lnSpc>
                <a:spcPts val="4826"/>
              </a:lnSpc>
              <a:buFont typeface="Arial"/>
              <a:buChar char="•"/>
            </a:pPr>
            <a:r>
              <a:rPr lang="en-US" sz="3500" spc="344" dirty="0" err="1">
                <a:solidFill>
                  <a:srgbClr val="000000"/>
                </a:solidFill>
                <a:latin typeface="+mj-lt"/>
                <a:ea typeface="Lato"/>
                <a:cs typeface="Lato"/>
              </a:rPr>
              <a:t>Acesse</a:t>
            </a:r>
            <a:r>
              <a:rPr lang="en-US" sz="3500" spc="344" dirty="0">
                <a:solidFill>
                  <a:srgbClr val="000000"/>
                </a:solidFill>
                <a:latin typeface="+mj-lt"/>
                <a:ea typeface="Lato"/>
                <a:cs typeface="Lato"/>
              </a:rPr>
              <a:t> o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  <a:ea typeface="Lato"/>
                <a:cs typeface="Lato"/>
              </a:rPr>
              <a:t>código</a:t>
            </a:r>
            <a:r>
              <a:rPr lang="en-US" sz="3500" spc="344" dirty="0">
                <a:solidFill>
                  <a:srgbClr val="000000"/>
                </a:solidFill>
                <a:latin typeface="+mj-lt"/>
                <a:ea typeface="Lato"/>
                <a:cs typeface="Lato"/>
              </a:rPr>
              <a:t>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  <a:ea typeface="Lato"/>
                <a:cs typeface="Lato"/>
              </a:rPr>
              <a:t>completo</a:t>
            </a:r>
            <a:r>
              <a:rPr lang="en-US" sz="3500" spc="344" dirty="0">
                <a:solidFill>
                  <a:srgbClr val="000000"/>
                </a:solidFill>
                <a:latin typeface="+mj-lt"/>
                <a:ea typeface="Lato"/>
                <a:cs typeface="Lato"/>
              </a:rPr>
              <a:t> no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  <a:ea typeface="Lato"/>
                <a:cs typeface="Lato"/>
              </a:rPr>
              <a:t>arquivo</a:t>
            </a:r>
            <a:r>
              <a:rPr lang="en-US" sz="3500" spc="344" dirty="0">
                <a:solidFill>
                  <a:srgbClr val="000000"/>
                </a:solidFill>
                <a:latin typeface="+mj-lt"/>
                <a:ea typeface="Lato"/>
                <a:cs typeface="Lato"/>
              </a:rPr>
              <a:t> </a:t>
            </a:r>
            <a:r>
              <a:rPr lang="pt-BR" sz="3500" dirty="0">
                <a:latin typeface="+mj-lt"/>
              </a:rPr>
              <a:t>aula04_criando_botoes.dart</a:t>
            </a:r>
            <a:endParaRPr lang="en-US" sz="3500" spc="344" dirty="0" err="1">
              <a:solidFill>
                <a:srgbClr val="000000"/>
              </a:solidFill>
              <a:latin typeface="+mj-lt"/>
              <a:ea typeface="Lato"/>
              <a:cs typeface="Lato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AED937A-7302-7202-8AD5-088EF8965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1774" y="589621"/>
            <a:ext cx="4321443" cy="90278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 dirty="0">
                <a:solidFill>
                  <a:srgbClr val="2B4A9D"/>
                </a:solidFill>
                <a:latin typeface="Poppins Ultra-Bold"/>
              </a:rPr>
              <a:t>Entrada de dados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58" y="2552463"/>
            <a:ext cx="11044542" cy="4744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60730" lvl="1" indent="-380365" algn="just">
              <a:lnSpc>
                <a:spcPts val="3701"/>
              </a:lnSpc>
              <a:buFont typeface="Arial"/>
              <a:buChar char="•"/>
            </a:pPr>
            <a:r>
              <a:rPr lang="pt-BR" sz="3500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Agora adicionaremos um campo de entrada no modal de criação de categorias, permitindo que o usuário digite o nome da nova categoria.</a:t>
            </a:r>
          </a:p>
          <a:p>
            <a:pPr marL="760730" lvl="1" indent="-380365" algn="just">
              <a:lnSpc>
                <a:spcPts val="3701"/>
              </a:lnSpc>
              <a:buFont typeface="Arial"/>
              <a:buChar char="•"/>
            </a:pPr>
            <a:r>
              <a:rPr lang="pt-BR" sz="3500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Usamos um </a:t>
            </a:r>
            <a:r>
              <a:rPr lang="pt-BR" sz="3500" b="1" dirty="0" err="1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TextEditingController</a:t>
            </a:r>
            <a:r>
              <a:rPr lang="pt-BR" sz="3500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 para capturar o texto digitado no </a:t>
            </a:r>
            <a:r>
              <a:rPr lang="pt-BR" sz="3500" b="1" dirty="0" err="1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TextField</a:t>
            </a:r>
            <a:r>
              <a:rPr lang="pt-BR" sz="3500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 e recuperar esse valor no momento em que o botão de confirmação for pressionado.</a:t>
            </a:r>
          </a:p>
          <a:p>
            <a:pPr marL="760730" lvl="1" indent="-380365" algn="just">
              <a:lnSpc>
                <a:spcPts val="3701"/>
              </a:lnSpc>
              <a:buFont typeface="Arial"/>
              <a:buChar char="•"/>
            </a:pPr>
            <a:r>
              <a:rPr lang="pt-BR" sz="3500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Em seguida, enviamos esse valor para o método </a:t>
            </a:r>
            <a:r>
              <a:rPr lang="pt-BR" sz="3500" b="1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_</a:t>
            </a:r>
            <a:r>
              <a:rPr lang="pt-BR" sz="3500" b="1" dirty="0" err="1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mostrarAdicionarCategoria</a:t>
            </a:r>
            <a:r>
              <a:rPr lang="pt-BR" sz="3500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, que será responsável por criar a nova categoria e exibi-la na lista.</a:t>
            </a:r>
            <a:r>
              <a:rPr lang="en-US" sz="3500" spc="176" dirty="0">
                <a:solidFill>
                  <a:srgbClr val="000000"/>
                </a:solidFill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6CD2807-7073-393E-3061-21E5DDBD5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262" y="2857500"/>
            <a:ext cx="6717699" cy="33260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Entrada de dados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5941" y="1310824"/>
            <a:ext cx="17194859" cy="8023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pt-BR" sz="3600" dirty="0">
                <a:latin typeface="Lato "/>
              </a:rPr>
              <a:t>• </a:t>
            </a:r>
            <a:r>
              <a:rPr lang="pt-BR" sz="3600" b="1" dirty="0" err="1">
                <a:latin typeface="+mj-lt"/>
              </a:rPr>
              <a:t>GerenciarCategoriasSheet</a:t>
            </a:r>
            <a:r>
              <a:rPr lang="pt-BR" sz="3600" b="1" dirty="0">
                <a:latin typeface="+mj-lt"/>
              </a:rPr>
              <a:t>:</a:t>
            </a:r>
            <a:r>
              <a:rPr lang="pt-BR" sz="3600" dirty="0">
                <a:latin typeface="+mj-lt"/>
              </a:rPr>
              <a:t> Esta é a classe responsável por exibir a lista de categorias e permitir que o usuário crie novas categorias.</a:t>
            </a:r>
            <a:br>
              <a:rPr lang="pt-BR" sz="3600" dirty="0">
                <a:latin typeface="+mj-lt"/>
              </a:rPr>
            </a:br>
            <a:r>
              <a:rPr lang="pt-BR" sz="3600" dirty="0">
                <a:latin typeface="+mj-lt"/>
              </a:rPr>
              <a:t>Ela utiliza um modal (</a:t>
            </a:r>
            <a:r>
              <a:rPr lang="pt-BR" sz="3600" dirty="0" err="1">
                <a:latin typeface="+mj-lt"/>
              </a:rPr>
              <a:t>AlertDialog</a:t>
            </a:r>
            <a:r>
              <a:rPr lang="pt-BR" sz="3600" dirty="0">
                <a:latin typeface="+mj-lt"/>
              </a:rPr>
              <a:t>) para coletar os dados digitados pelo usuário.</a:t>
            </a:r>
          </a:p>
          <a:p>
            <a:pPr>
              <a:buNone/>
            </a:pPr>
            <a:r>
              <a:rPr lang="pt-BR" sz="3600" dirty="0">
                <a:latin typeface="+mj-lt"/>
              </a:rPr>
              <a:t>◦ Dentro do modal, utilizamos um </a:t>
            </a:r>
            <a:r>
              <a:rPr lang="pt-BR" sz="3600" b="1" dirty="0" err="1">
                <a:latin typeface="+mj-lt"/>
              </a:rPr>
              <a:t>TextField</a:t>
            </a:r>
            <a:r>
              <a:rPr lang="pt-BR" sz="3600" dirty="0">
                <a:latin typeface="+mj-lt"/>
              </a:rPr>
              <a:t> com um </a:t>
            </a:r>
            <a:r>
              <a:rPr lang="pt-BR" sz="3600" b="1" dirty="0" err="1">
                <a:latin typeface="+mj-lt"/>
              </a:rPr>
              <a:t>TextEditingController</a:t>
            </a:r>
            <a:r>
              <a:rPr lang="pt-BR" sz="3600" dirty="0">
                <a:latin typeface="+mj-lt"/>
              </a:rPr>
              <a:t>, que permite capturar o nome digitado para a nova categoria.</a:t>
            </a:r>
            <a:br>
              <a:rPr lang="pt-BR" sz="3600" dirty="0">
                <a:latin typeface="+mj-lt"/>
              </a:rPr>
            </a:br>
            <a:r>
              <a:rPr lang="pt-BR" sz="3600" dirty="0">
                <a:latin typeface="+mj-lt"/>
              </a:rPr>
              <a:t>◦ Também exibimos opções de prioridade usando botões do tipo </a:t>
            </a:r>
            <a:r>
              <a:rPr lang="pt-BR" sz="3600" b="1" dirty="0">
                <a:latin typeface="+mj-lt"/>
              </a:rPr>
              <a:t>Chip</a:t>
            </a:r>
            <a:r>
              <a:rPr lang="pt-BR" sz="3600" dirty="0">
                <a:latin typeface="+mj-lt"/>
              </a:rPr>
              <a:t>, permitindo ao usuário escolher entre prioridade Alta, Média ou Baixa.</a:t>
            </a:r>
            <a:br>
              <a:rPr lang="pt-BR" sz="3600" dirty="0">
                <a:latin typeface="+mj-lt"/>
              </a:rPr>
            </a:br>
            <a:r>
              <a:rPr lang="pt-BR" sz="3600" b="1" dirty="0">
                <a:latin typeface="+mj-lt"/>
              </a:rPr>
              <a:t>◦</a:t>
            </a:r>
            <a:r>
              <a:rPr lang="pt-BR" sz="3600" dirty="0">
                <a:latin typeface="+mj-lt"/>
              </a:rPr>
              <a:t> Ao clicar no botão de confirmação, o valor digitado no </a:t>
            </a:r>
            <a:r>
              <a:rPr lang="pt-BR" sz="3600" dirty="0" err="1">
                <a:latin typeface="+mj-lt"/>
              </a:rPr>
              <a:t>TextField</a:t>
            </a:r>
            <a:r>
              <a:rPr lang="pt-BR" sz="3600" dirty="0">
                <a:latin typeface="+mj-lt"/>
              </a:rPr>
              <a:t> e a prioridade selecionada são enviados para o método </a:t>
            </a:r>
            <a:r>
              <a:rPr lang="pt-BR" sz="3600" b="1" dirty="0">
                <a:latin typeface="+mj-lt"/>
              </a:rPr>
              <a:t>_</a:t>
            </a:r>
            <a:r>
              <a:rPr lang="pt-BR" sz="3600" b="1" dirty="0" err="1">
                <a:latin typeface="+mj-lt"/>
              </a:rPr>
              <a:t>mostrarAdicionarCategoria</a:t>
            </a:r>
            <a:r>
              <a:rPr lang="pt-BR" sz="3600" dirty="0">
                <a:latin typeface="+mj-lt"/>
              </a:rPr>
              <a:t>, que realiza a criação da categoria no </a:t>
            </a:r>
            <a:r>
              <a:rPr lang="pt-BR" sz="3600" dirty="0" err="1">
                <a:latin typeface="+mj-lt"/>
              </a:rPr>
              <a:t>ViewModel</a:t>
            </a:r>
            <a:r>
              <a:rPr lang="pt-BR" sz="3600" dirty="0">
                <a:latin typeface="+mj-lt"/>
              </a:rPr>
              <a:t>.</a:t>
            </a:r>
          </a:p>
          <a:p>
            <a:pPr>
              <a:buNone/>
            </a:pPr>
            <a:r>
              <a:rPr lang="pt-BR" sz="3600" dirty="0">
                <a:latin typeface="+mj-lt"/>
              </a:rPr>
              <a:t>• </a:t>
            </a:r>
            <a:r>
              <a:rPr lang="pt-BR" sz="3600" b="1" dirty="0">
                <a:latin typeface="+mj-lt"/>
              </a:rPr>
              <a:t>Aula04CriandoBotoes:</a:t>
            </a:r>
            <a:r>
              <a:rPr lang="pt-BR" sz="3600" dirty="0">
                <a:latin typeface="+mj-lt"/>
              </a:rPr>
              <a:t> Este widget define o botão externo usado para abrir o modal de criação.</a:t>
            </a:r>
            <a:br>
              <a:rPr lang="pt-BR" sz="3600" dirty="0">
                <a:latin typeface="+mj-lt"/>
              </a:rPr>
            </a:br>
            <a:r>
              <a:rPr lang="pt-BR" sz="3600" dirty="0">
                <a:latin typeface="+mj-lt"/>
              </a:rPr>
              <a:t>Ele recebe a função </a:t>
            </a:r>
            <a:r>
              <a:rPr lang="pt-BR" sz="3600" b="1" dirty="0" err="1">
                <a:latin typeface="+mj-lt"/>
              </a:rPr>
              <a:t>onPressed</a:t>
            </a:r>
            <a:r>
              <a:rPr lang="pt-BR" sz="3600" dirty="0">
                <a:latin typeface="+mj-lt"/>
              </a:rPr>
              <a:t> como parâmetro, permitindo reutilizar o botão em qualquer lugar da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82761" y="3439714"/>
            <a:ext cx="11922478" cy="3405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5"/>
              </a:lnSpc>
            </a:pPr>
            <a:r>
              <a:rPr lang="en-US" sz="6271" spc="313">
                <a:solidFill>
                  <a:srgbClr val="2B4A9D"/>
                </a:solidFill>
                <a:latin typeface="Poppins Ultra-Bold"/>
              </a:rPr>
              <a:t>No próximo módulo, entenderemos melhor como funciona a navegação entre telas.</a:t>
            </a:r>
          </a:p>
        </p:txBody>
      </p:sp>
      <p:grpSp>
        <p:nvGrpSpPr>
          <p:cNvPr id="3" name="Group 3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Referências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6673" y="1512139"/>
            <a:ext cx="16442627" cy="6975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31"/>
              </a:lnSpc>
            </a:pPr>
            <a:r>
              <a:rPr lang="en-US" sz="3067" spc="153">
                <a:solidFill>
                  <a:srgbClr val="000000"/>
                </a:solidFill>
                <a:latin typeface="Poppins Bold"/>
              </a:rPr>
              <a:t>Building user interfaces with Flutter.</a:t>
            </a:r>
            <a:r>
              <a:rPr lang="en-US" sz="3067" spc="153">
                <a:solidFill>
                  <a:srgbClr val="000000"/>
                </a:solidFill>
                <a:latin typeface="Poppins"/>
              </a:rPr>
              <a:t> Disponível em: &lt;https://docs.flutter.dev/ui&gt;. Acesso em: 4 mar. 2024.</a:t>
            </a:r>
          </a:p>
          <a:p>
            <a:pPr algn="just">
              <a:lnSpc>
                <a:spcPts val="4631"/>
              </a:lnSpc>
            </a:pPr>
            <a:endParaRPr lang="en-US" sz="3067" spc="153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631"/>
              </a:lnSpc>
            </a:pPr>
            <a:r>
              <a:rPr lang="en-US" sz="3067" spc="153">
                <a:solidFill>
                  <a:srgbClr val="000000"/>
                </a:solidFill>
                <a:latin typeface="Poppins Bold"/>
              </a:rPr>
              <a:t>Como capturar de input de dados no Flutter.</a:t>
            </a:r>
            <a:r>
              <a:rPr lang="en-US" sz="3067" spc="153">
                <a:solidFill>
                  <a:srgbClr val="000000"/>
                </a:solidFill>
                <a:latin typeface="Poppins"/>
              </a:rPr>
              <a:t> Disponível em: &lt;https://www.devmedia.com.br/exemplo/flutter-tela-com-captura-do-widget-textfield/109&gt;. Acesso em: 5 mar. 2024.</a:t>
            </a:r>
          </a:p>
          <a:p>
            <a:pPr algn="just">
              <a:lnSpc>
                <a:spcPts val="4631"/>
              </a:lnSpc>
            </a:pPr>
            <a:endParaRPr lang="en-US" sz="3067" spc="153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631"/>
              </a:lnSpc>
            </a:pPr>
            <a:r>
              <a:rPr lang="en-US" sz="3067" spc="153">
                <a:solidFill>
                  <a:srgbClr val="000000"/>
                </a:solidFill>
                <a:latin typeface="Poppins Bold"/>
              </a:rPr>
              <a:t>Hello world com Flutter.</a:t>
            </a:r>
            <a:r>
              <a:rPr lang="en-US" sz="3067" spc="153">
                <a:solidFill>
                  <a:srgbClr val="000000"/>
                </a:solidFill>
                <a:latin typeface="Poppins"/>
              </a:rPr>
              <a:t> Disponível em: &lt;https://www.devmedia.com.br/hello-world-com-flutter/40321&gt;. Acesso em: 5 mar. 2024.</a:t>
            </a:r>
          </a:p>
          <a:p>
            <a:pPr algn="just">
              <a:lnSpc>
                <a:spcPts val="4631"/>
              </a:lnSpc>
            </a:pPr>
            <a:endParaRPr lang="en-US" sz="3067" spc="153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631"/>
              </a:lnSpc>
            </a:pPr>
            <a:endParaRPr lang="en-US" sz="3067" spc="153">
              <a:solidFill>
                <a:srgbClr val="000000"/>
              </a:solidFill>
              <a:latin typeface="Poppins"/>
            </a:endParaRPr>
          </a:p>
        </p:txBody>
      </p: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554</Words>
  <Application>Microsoft Office PowerPoint</Application>
  <PresentationFormat>Personalizar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Poppins Bold</vt:lpstr>
      <vt:lpstr>Lato </vt:lpstr>
      <vt:lpstr>Poppins</vt:lpstr>
      <vt:lpstr>Lato</vt:lpstr>
      <vt:lpstr>Calibri</vt:lpstr>
      <vt:lpstr>Poppins Ultra-Bold</vt:lpstr>
      <vt:lpstr>Arial</vt:lpstr>
      <vt:lpstr>Lato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Hello World</dc:title>
  <cp:lastModifiedBy>Office</cp:lastModifiedBy>
  <cp:revision>33</cp:revision>
  <dcterms:created xsi:type="dcterms:W3CDTF">2006-08-16T00:00:00Z</dcterms:created>
  <dcterms:modified xsi:type="dcterms:W3CDTF">2025-11-25T01:49:34Z</dcterms:modified>
  <dc:identifier>DAF-XfFka0w</dc:identifier>
</cp:coreProperties>
</file>